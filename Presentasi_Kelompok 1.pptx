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7132320" y="-1097280"/>
            <a:ext cx="3474720" cy="3474720"/>
          </a:xfrm>
          <a:prstGeom prst="ellipse">
            <a:avLst/>
          </a:prstGeom>
          <a:solidFill>
            <a:srgbClr val="C9A84C">
              <a:alpha val="18000"/>
            </a:srgbClr>
          </a:solidFill>
          <a:ln w="19050">
            <a:solidFill>
              <a:srgbClr val="C9A84C">
                <a:alpha val="40000"/>
              </a:srgbClr>
            </a:solidFill>
            <a:prstDash val="solid"/>
          </a:ln>
        </p:spPr>
      </p:sp>
      <p:sp>
        <p:nvSpPr>
          <p:cNvPr id="3" name="Shape 1"/>
          <p:cNvSpPr/>
          <p:nvPr/>
        </p:nvSpPr>
        <p:spPr>
          <a:xfrm>
            <a:off x="7772400" y="-457200"/>
            <a:ext cx="2011680" cy="2011680"/>
          </a:xfrm>
          <a:prstGeom prst="ellipse">
            <a:avLst/>
          </a:prstGeom>
          <a:solidFill>
            <a:srgbClr val="C9A84C">
              <a:alpha val="30000"/>
            </a:srgbClr>
          </a:solidFill>
          <a:ln w="12700">
            <a:solidFill>
              <a:srgbClr val="C9A84C"/>
            </a:solidFill>
            <a:prstDash val="solid"/>
          </a:ln>
        </p:spPr>
      </p:sp>
      <p:sp>
        <p:nvSpPr>
          <p:cNvPr id="4" name="Shape 2"/>
          <p:cNvSpPr/>
          <p:nvPr/>
        </p:nvSpPr>
        <p:spPr>
          <a:xfrm>
            <a:off x="-731520" y="3840480"/>
            <a:ext cx="2743200" cy="2743200"/>
          </a:xfrm>
          <a:prstGeom prst="ellipse">
            <a:avLst/>
          </a:prstGeom>
          <a:solidFill>
            <a:srgbClr val="C9A84C">
              <a:alpha val="13000"/>
            </a:srgbClr>
          </a:solidFill>
          <a:ln w="12700">
            <a:solidFill>
              <a:srgbClr val="C9A84C">
                <a:alpha val="30000"/>
              </a:srgbClr>
            </a:solidFill>
            <a:prstDash val="solid"/>
          </a:ln>
        </p:spPr>
      </p:sp>
      <p:sp>
        <p:nvSpPr>
          <p:cNvPr id="5" name="Text 3"/>
          <p:cNvSpPr/>
          <p:nvPr/>
        </p:nvSpPr>
        <p:spPr>
          <a:xfrm>
            <a:off x="548640" y="365760"/>
            <a:ext cx="8046720" cy="365760"/>
          </a:xfrm>
          <a:prstGeom prst="rect">
            <a:avLst/>
          </a:prstGeom>
          <a:noFill/>
          <a:ln/>
        </p:spPr>
        <p:txBody>
          <a:bodyPr wrap="square" rtlCol="0" anchor="ctr"/>
          <a:lstStyle/>
          <a:p>
            <a:pPr algn="ctr" indent="0" marL="0">
              <a:buNone/>
            </a:pPr>
            <a:r>
              <a:rPr lang="en-US" sz="1300" i="1" dirty="0">
                <a:solidFill>
                  <a:srgbClr val="F0D080"/>
                </a:solidFill>
                <a:latin typeface="Calibri" pitchFamily="34" charset="0"/>
                <a:ea typeface="Calibri" pitchFamily="34" charset="-122"/>
                <a:cs typeface="Calibri" pitchFamily="34" charset="-120"/>
              </a:rPr>
              <a:t>Pengolahan Citra Digital</a:t>
            </a:r>
            <a:endParaRPr lang="en-US" sz="1300" dirty="0"/>
          </a:p>
        </p:txBody>
      </p:sp>
      <p:sp>
        <p:nvSpPr>
          <p:cNvPr id="6" name="Text 4"/>
          <p:cNvSpPr/>
          <p:nvPr/>
        </p:nvSpPr>
        <p:spPr>
          <a:xfrm>
            <a:off x="457200" y="822960"/>
            <a:ext cx="8229600" cy="237744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Klasifikasi Penjarahan Situs</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Arkeologi Mesir Berdasarkan</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Citra Satelit</a:t>
            </a:r>
            <a:endParaRPr lang="en-US" sz="3000" dirty="0"/>
          </a:p>
        </p:txBody>
      </p:sp>
      <p:sp>
        <p:nvSpPr>
          <p:cNvPr id="7" name="Text 5"/>
          <p:cNvSpPr/>
          <p:nvPr/>
        </p:nvSpPr>
        <p:spPr>
          <a:xfrm>
            <a:off x="457200" y="3154680"/>
            <a:ext cx="8229600" cy="411480"/>
          </a:xfrm>
          <a:prstGeom prst="rect">
            <a:avLst/>
          </a:prstGeom>
          <a:noFill/>
          <a:ln/>
        </p:spPr>
        <p:txBody>
          <a:bodyPr wrap="square" rtlCol="0" anchor="ctr"/>
          <a:lstStyle/>
          <a:p>
            <a:pPr algn="ctr" indent="0" marL="0">
              <a:buNone/>
            </a:pPr>
            <a:r>
              <a:rPr lang="en-US" sz="1500" i="1" dirty="0">
                <a:solidFill>
                  <a:srgbClr val="F0D080"/>
                </a:solidFill>
                <a:latin typeface="Calibri" pitchFamily="34" charset="0"/>
                <a:ea typeface="Calibri" pitchFamily="34" charset="-122"/>
                <a:cs typeface="Calibri" pitchFamily="34" charset="-120"/>
              </a:rPr>
              <a:t>Menggunakan Metode SVM dan CNN</a:t>
            </a:r>
            <a:endParaRPr lang="en-US" sz="1500" dirty="0"/>
          </a:p>
        </p:txBody>
      </p:sp>
      <p:sp>
        <p:nvSpPr>
          <p:cNvPr id="8" name="Shape 6"/>
          <p:cNvSpPr/>
          <p:nvPr/>
        </p:nvSpPr>
        <p:spPr>
          <a:xfrm>
            <a:off x="1371600" y="3611880"/>
            <a:ext cx="6400800" cy="1325880"/>
          </a:xfrm>
          <a:prstGeom prst="roundRect">
            <a:avLst>
              <a:gd name="adj" fmla="val 8276"/>
            </a:avLst>
          </a:prstGeom>
          <a:solidFill>
            <a:srgbClr val="1E3A5F"/>
          </a:solidFill>
          <a:ln/>
          <a:effectLst>
            <a:outerShdw sx="100000" sy="100000" kx="0" ky="0" algn="bl" rotWithShape="0" blurRad="101600" dist="38100" dir="2700000">
              <a:srgbClr val="000000">
                <a:alpha val="18000"/>
              </a:srgbClr>
            </a:outerShdw>
          </a:effectLst>
        </p:spPr>
      </p:sp>
      <p:sp>
        <p:nvSpPr>
          <p:cNvPr id="9" name="Text 7"/>
          <p:cNvSpPr/>
          <p:nvPr/>
        </p:nvSpPr>
        <p:spPr>
          <a:xfrm>
            <a:off x="1371600" y="3630168"/>
            <a:ext cx="6400800" cy="1280160"/>
          </a:xfrm>
          <a:prstGeom prst="rect">
            <a:avLst/>
          </a:prstGeom>
          <a:noFill/>
          <a:ln/>
        </p:spPr>
        <p:txBody>
          <a:bodyPr wrap="square" lIns="101600" tIns="101600" rIns="101600" bIns="101600" rtlCol="0" anchor="ctr"/>
          <a:lstStyle/>
          <a:p>
            <a:pPr algn="ctr" indent="0" marL="0">
              <a:buNone/>
            </a:pPr>
            <a:r>
              <a:rPr lang="en-US" sz="1050" b="1" dirty="0">
                <a:solidFill>
                  <a:srgbClr val="C9A84C"/>
                </a:solidFill>
                <a:latin typeface="Calibri" pitchFamily="34" charset="0"/>
                <a:ea typeface="Calibri" pitchFamily="34" charset="-122"/>
                <a:cs typeface="Calibri" pitchFamily="34" charset="-120"/>
              </a:rPr>
              <a:t>Anggota Kelompok 1</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Wahyu Prasetyono (24031554133)   ·   Danis Setyansah (24031554143)   ·   Davan Juheins Tololiu (24031554157)</a:t>
            </a:r>
            <a:endParaRPr lang="en-US" sz="1050" dirty="0"/>
          </a:p>
          <a:p>
            <a:pPr algn="ctr" indent="0" marL="0">
              <a:buNone/>
            </a:pPr>
            <a:r>
              <a:rPr lang="en-US" sz="1050" dirty="0">
                <a:solidFill>
                  <a:srgbClr val="8AA3BE"/>
                </a:solidFill>
                <a:latin typeface="Calibri" pitchFamily="34" charset="0"/>
                <a:ea typeface="Calibri" pitchFamily="34" charset="-122"/>
                <a:cs typeface="Calibri" pitchFamily="34" charset="-120"/>
              </a:rPr>
              <a:t>Dosen: Riskyana Dewi Intan Puspitasari, S.SI.,M.Kom.   ·   Kelas 2024E   ·   Prodi Sains Data, Unesa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algn="l" indent="0" marL="0">
              <a:buNone/>
            </a:pPr>
            <a:r>
              <a:rPr lang="en-US" sz="3000" b="1" dirty="0">
                <a:solidFill>
                  <a:srgbClr val="1A2E4A"/>
                </a:solidFill>
                <a:latin typeface="Cambria" pitchFamily="34" charset="0"/>
                <a:ea typeface="Cambria" pitchFamily="34" charset="-122"/>
                <a:cs typeface="Cambria" pitchFamily="34" charset="-120"/>
              </a:rPr>
              <a:t>Agenda Presentasi</a:t>
            </a:r>
            <a:endParaRPr lang="en-US" sz="3000" dirty="0"/>
          </a:p>
        </p:txBody>
      </p:sp>
      <p:sp>
        <p:nvSpPr>
          <p:cNvPr id="3" name="Shape 1"/>
          <p:cNvSpPr/>
          <p:nvPr/>
        </p:nvSpPr>
        <p:spPr>
          <a:xfrm>
            <a:off x="457200" y="1051560"/>
            <a:ext cx="4023360" cy="1627632"/>
          </a:xfrm>
          <a:prstGeom prst="roundRect">
            <a:avLst>
              <a:gd name="adj" fmla="val 6742"/>
            </a:avLst>
          </a:prstGeom>
          <a:solidFill>
            <a:srgbClr val="FFFFFF"/>
          </a:solidFill>
          <a:ln/>
          <a:effectLst>
            <a:outerShdw sx="100000" sy="100000" kx="0" ky="0" algn="bl" rotWithShape="0" blurRad="101600" dist="38100" dir="2700000">
              <a:srgbClr val="000000">
                <a:alpha val="18000"/>
              </a:srgbClr>
            </a:outerShdw>
          </a:effectLst>
        </p:spPr>
      </p:sp>
      <p:sp>
        <p:nvSpPr>
          <p:cNvPr id="4" name="Shape 2"/>
          <p:cNvSpPr/>
          <p:nvPr/>
        </p:nvSpPr>
        <p:spPr>
          <a:xfrm>
            <a:off x="621792" y="1216152"/>
            <a:ext cx="594360" cy="594360"/>
          </a:xfrm>
          <a:prstGeom prst="ellipse">
            <a:avLst/>
          </a:prstGeom>
          <a:solidFill>
            <a:srgbClr val="1A2E4A"/>
          </a:solidFill>
          <a:ln w="12700">
            <a:solidFill>
              <a:srgbClr val="1A2E4A"/>
            </a:solidFill>
            <a:prstDash val="solid"/>
          </a:ln>
        </p:spPr>
      </p:sp>
      <p:sp>
        <p:nvSpPr>
          <p:cNvPr id="5" name="Text 3"/>
          <p:cNvSpPr/>
          <p:nvPr/>
        </p:nvSpPr>
        <p:spPr>
          <a:xfrm>
            <a:off x="621792" y="1216152"/>
            <a:ext cx="594360" cy="594360"/>
          </a:xfrm>
          <a:prstGeom prst="rect">
            <a:avLst/>
          </a:prstGeom>
          <a:noFill/>
          <a:ln/>
        </p:spPr>
        <p:txBody>
          <a:bodyPr wrap="square" lIns="0" tIns="0" rIns="0" bIns="0" rtlCol="0" anchor="ctr"/>
          <a:lstStyle/>
          <a:p>
            <a:pPr algn="ctr" indent="0" marL="0">
              <a:buNone/>
            </a:pPr>
            <a:r>
              <a:rPr lang="en-US" sz="1200" b="1" dirty="0">
                <a:solidFill>
                  <a:srgbClr val="C9A84C"/>
                </a:solidFill>
                <a:latin typeface="Cambria" pitchFamily="34" charset="0"/>
                <a:ea typeface="Cambria" pitchFamily="34" charset="-122"/>
                <a:cs typeface="Cambria" pitchFamily="34" charset="-120"/>
              </a:rPr>
              <a:t>01</a:t>
            </a:r>
            <a:endParaRPr lang="en-US" sz="1200" dirty="0"/>
          </a:p>
        </p:txBody>
      </p:sp>
      <p:sp>
        <p:nvSpPr>
          <p:cNvPr id="6" name="Text 4"/>
          <p:cNvSpPr/>
          <p:nvPr/>
        </p:nvSpPr>
        <p:spPr>
          <a:xfrm>
            <a:off x="1325880" y="1216152"/>
            <a:ext cx="3017520" cy="457200"/>
          </a:xfrm>
          <a:prstGeom prst="rect">
            <a:avLst/>
          </a:prstGeom>
          <a:noFill/>
          <a:ln/>
        </p:spPr>
        <p:txBody>
          <a:bodyPr wrap="square" lIns="0" tIns="0" rIns="0" bIns="0" rtlCol="0" anchor="t"/>
          <a:lstStyle/>
          <a:p>
            <a:pPr algn="l" indent="0" marL="0">
              <a:buNone/>
            </a:pPr>
            <a:r>
              <a:rPr lang="en-US" sz="1400" b="1" dirty="0">
                <a:solidFill>
                  <a:srgbClr val="1A2E4A"/>
                </a:solidFill>
                <a:latin typeface="Cambria" pitchFamily="34" charset="0"/>
                <a:ea typeface="Cambria" pitchFamily="34" charset="-122"/>
                <a:cs typeface="Cambria" pitchFamily="34" charset="-120"/>
              </a:rPr>
              <a:t>Latar Belakang</a:t>
            </a:r>
            <a:endParaRPr lang="en-US" sz="1400" dirty="0"/>
          </a:p>
        </p:txBody>
      </p:sp>
      <p:sp>
        <p:nvSpPr>
          <p:cNvPr id="7" name="Text 5"/>
          <p:cNvSpPr/>
          <p:nvPr/>
        </p:nvSpPr>
        <p:spPr>
          <a:xfrm>
            <a:off x="621792" y="1737360"/>
            <a:ext cx="3703320" cy="82296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Ancaman penjarahan situs arkeologi Mesir &amp; urgensi otomatisasi</a:t>
            </a:r>
            <a:endParaRPr lang="en-US" sz="1050" dirty="0"/>
          </a:p>
        </p:txBody>
      </p:sp>
      <p:sp>
        <p:nvSpPr>
          <p:cNvPr id="8" name="Shape 6"/>
          <p:cNvSpPr/>
          <p:nvPr/>
        </p:nvSpPr>
        <p:spPr>
          <a:xfrm>
            <a:off x="4800600" y="1051560"/>
            <a:ext cx="4023360" cy="1627632"/>
          </a:xfrm>
          <a:prstGeom prst="roundRect">
            <a:avLst>
              <a:gd name="adj" fmla="val 6742"/>
            </a:avLst>
          </a:prstGeom>
          <a:solidFill>
            <a:srgbClr val="FFFFFF"/>
          </a:solidFill>
          <a:ln/>
          <a:effectLst>
            <a:outerShdw sx="100000" sy="100000" kx="0" ky="0" algn="bl" rotWithShape="0" blurRad="101600" dist="38100" dir="2700000">
              <a:srgbClr val="000000">
                <a:alpha val="18000"/>
              </a:srgbClr>
            </a:outerShdw>
          </a:effectLst>
        </p:spPr>
      </p:sp>
      <p:sp>
        <p:nvSpPr>
          <p:cNvPr id="9" name="Shape 7"/>
          <p:cNvSpPr/>
          <p:nvPr/>
        </p:nvSpPr>
        <p:spPr>
          <a:xfrm>
            <a:off x="4965192" y="1216152"/>
            <a:ext cx="594360" cy="594360"/>
          </a:xfrm>
          <a:prstGeom prst="ellipse">
            <a:avLst/>
          </a:prstGeom>
          <a:solidFill>
            <a:srgbClr val="1A2E4A"/>
          </a:solidFill>
          <a:ln w="12700">
            <a:solidFill>
              <a:srgbClr val="1A2E4A"/>
            </a:solidFill>
            <a:prstDash val="solid"/>
          </a:ln>
        </p:spPr>
      </p:sp>
      <p:sp>
        <p:nvSpPr>
          <p:cNvPr id="10" name="Text 8"/>
          <p:cNvSpPr/>
          <p:nvPr/>
        </p:nvSpPr>
        <p:spPr>
          <a:xfrm>
            <a:off x="4965192" y="1216152"/>
            <a:ext cx="594360" cy="594360"/>
          </a:xfrm>
          <a:prstGeom prst="rect">
            <a:avLst/>
          </a:prstGeom>
          <a:noFill/>
          <a:ln/>
        </p:spPr>
        <p:txBody>
          <a:bodyPr wrap="square" lIns="0" tIns="0" rIns="0" bIns="0" rtlCol="0" anchor="ctr"/>
          <a:lstStyle/>
          <a:p>
            <a:pPr algn="ctr" indent="0" marL="0">
              <a:buNone/>
            </a:pPr>
            <a:r>
              <a:rPr lang="en-US" sz="1200" b="1" dirty="0">
                <a:solidFill>
                  <a:srgbClr val="C9A84C"/>
                </a:solidFill>
                <a:latin typeface="Cambria" pitchFamily="34" charset="0"/>
                <a:ea typeface="Cambria" pitchFamily="34" charset="-122"/>
                <a:cs typeface="Cambria" pitchFamily="34" charset="-120"/>
              </a:rPr>
              <a:t>02</a:t>
            </a:r>
            <a:endParaRPr lang="en-US" sz="1200" dirty="0"/>
          </a:p>
        </p:txBody>
      </p:sp>
      <p:sp>
        <p:nvSpPr>
          <p:cNvPr id="11" name="Text 9"/>
          <p:cNvSpPr/>
          <p:nvPr/>
        </p:nvSpPr>
        <p:spPr>
          <a:xfrm>
            <a:off x="5669280" y="1216152"/>
            <a:ext cx="3017520" cy="457200"/>
          </a:xfrm>
          <a:prstGeom prst="rect">
            <a:avLst/>
          </a:prstGeom>
          <a:noFill/>
          <a:ln/>
        </p:spPr>
        <p:txBody>
          <a:bodyPr wrap="square" lIns="0" tIns="0" rIns="0" bIns="0" rtlCol="0" anchor="t"/>
          <a:lstStyle/>
          <a:p>
            <a:pPr algn="l" indent="0" marL="0">
              <a:buNone/>
            </a:pPr>
            <a:r>
              <a:rPr lang="en-US" sz="1400" b="1" dirty="0">
                <a:solidFill>
                  <a:srgbClr val="1A2E4A"/>
                </a:solidFill>
                <a:latin typeface="Cambria" pitchFamily="34" charset="0"/>
                <a:ea typeface="Cambria" pitchFamily="34" charset="-122"/>
                <a:cs typeface="Cambria" pitchFamily="34" charset="-120"/>
              </a:rPr>
              <a:t>Metodologi</a:t>
            </a:r>
            <a:endParaRPr lang="en-US" sz="1400" dirty="0"/>
          </a:p>
        </p:txBody>
      </p:sp>
      <p:sp>
        <p:nvSpPr>
          <p:cNvPr id="12" name="Text 10"/>
          <p:cNvSpPr/>
          <p:nvPr/>
        </p:nvSpPr>
        <p:spPr>
          <a:xfrm>
            <a:off x="4965192" y="1737360"/>
            <a:ext cx="3703320" cy="82296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Dataset, alur penelitian, ekstraksi fitur HOG+GLCM+Histogram &amp; arsitektur CNN</a:t>
            </a:r>
            <a:endParaRPr lang="en-US" sz="1050" dirty="0"/>
          </a:p>
        </p:txBody>
      </p:sp>
      <p:sp>
        <p:nvSpPr>
          <p:cNvPr id="13" name="Shape 11"/>
          <p:cNvSpPr/>
          <p:nvPr/>
        </p:nvSpPr>
        <p:spPr>
          <a:xfrm>
            <a:off x="457200" y="2926080"/>
            <a:ext cx="4023360" cy="1627632"/>
          </a:xfrm>
          <a:prstGeom prst="roundRect">
            <a:avLst>
              <a:gd name="adj" fmla="val 6742"/>
            </a:avLst>
          </a:prstGeom>
          <a:solidFill>
            <a:srgbClr val="FFFFFF"/>
          </a:solidFill>
          <a:ln/>
          <a:effectLst>
            <a:outerShdw sx="100000" sy="100000" kx="0" ky="0" algn="bl" rotWithShape="0" blurRad="101600" dist="38100" dir="2700000">
              <a:srgbClr val="000000">
                <a:alpha val="18000"/>
              </a:srgbClr>
            </a:outerShdw>
          </a:effectLst>
        </p:spPr>
      </p:sp>
      <p:sp>
        <p:nvSpPr>
          <p:cNvPr id="14" name="Shape 12"/>
          <p:cNvSpPr/>
          <p:nvPr/>
        </p:nvSpPr>
        <p:spPr>
          <a:xfrm>
            <a:off x="621792" y="3090672"/>
            <a:ext cx="594360" cy="594360"/>
          </a:xfrm>
          <a:prstGeom prst="ellipse">
            <a:avLst/>
          </a:prstGeom>
          <a:solidFill>
            <a:srgbClr val="1A2E4A"/>
          </a:solidFill>
          <a:ln w="12700">
            <a:solidFill>
              <a:srgbClr val="1A2E4A"/>
            </a:solidFill>
            <a:prstDash val="solid"/>
          </a:ln>
        </p:spPr>
      </p:sp>
      <p:sp>
        <p:nvSpPr>
          <p:cNvPr id="15" name="Text 13"/>
          <p:cNvSpPr/>
          <p:nvPr/>
        </p:nvSpPr>
        <p:spPr>
          <a:xfrm>
            <a:off x="621792" y="3090672"/>
            <a:ext cx="594360" cy="594360"/>
          </a:xfrm>
          <a:prstGeom prst="rect">
            <a:avLst/>
          </a:prstGeom>
          <a:noFill/>
          <a:ln/>
        </p:spPr>
        <p:txBody>
          <a:bodyPr wrap="square" lIns="0" tIns="0" rIns="0" bIns="0" rtlCol="0" anchor="ctr"/>
          <a:lstStyle/>
          <a:p>
            <a:pPr algn="ctr" indent="0" marL="0">
              <a:buNone/>
            </a:pPr>
            <a:r>
              <a:rPr lang="en-US" sz="1200" b="1" dirty="0">
                <a:solidFill>
                  <a:srgbClr val="C9A84C"/>
                </a:solidFill>
                <a:latin typeface="Cambria" pitchFamily="34" charset="0"/>
                <a:ea typeface="Cambria" pitchFamily="34" charset="-122"/>
                <a:cs typeface="Cambria" pitchFamily="34" charset="-120"/>
              </a:rPr>
              <a:t>03</a:t>
            </a:r>
            <a:endParaRPr lang="en-US" sz="1200" dirty="0"/>
          </a:p>
        </p:txBody>
      </p:sp>
      <p:sp>
        <p:nvSpPr>
          <p:cNvPr id="16" name="Text 14"/>
          <p:cNvSpPr/>
          <p:nvPr/>
        </p:nvSpPr>
        <p:spPr>
          <a:xfrm>
            <a:off x="1325880" y="3090672"/>
            <a:ext cx="3017520" cy="457200"/>
          </a:xfrm>
          <a:prstGeom prst="rect">
            <a:avLst/>
          </a:prstGeom>
          <a:noFill/>
          <a:ln/>
        </p:spPr>
        <p:txBody>
          <a:bodyPr wrap="square" lIns="0" tIns="0" rIns="0" bIns="0" rtlCol="0" anchor="t"/>
          <a:lstStyle/>
          <a:p>
            <a:pPr algn="l" indent="0" marL="0">
              <a:buNone/>
            </a:pPr>
            <a:r>
              <a:rPr lang="en-US" sz="1400" b="1" dirty="0">
                <a:solidFill>
                  <a:srgbClr val="1A2E4A"/>
                </a:solidFill>
                <a:latin typeface="Cambria" pitchFamily="34" charset="0"/>
                <a:ea typeface="Cambria" pitchFamily="34" charset="-122"/>
                <a:cs typeface="Cambria" pitchFamily="34" charset="-120"/>
              </a:rPr>
              <a:t>Hasil &amp; Analisis</a:t>
            </a:r>
            <a:endParaRPr lang="en-US" sz="1400" dirty="0"/>
          </a:p>
        </p:txBody>
      </p:sp>
      <p:sp>
        <p:nvSpPr>
          <p:cNvPr id="17" name="Text 15"/>
          <p:cNvSpPr/>
          <p:nvPr/>
        </p:nvSpPr>
        <p:spPr>
          <a:xfrm>
            <a:off x="621792" y="3611880"/>
            <a:ext cx="3703320" cy="82296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EDA, performa SVM vs CNN, confusion matrix</a:t>
            </a:r>
            <a:endParaRPr lang="en-US" sz="1050" dirty="0"/>
          </a:p>
        </p:txBody>
      </p:sp>
      <p:sp>
        <p:nvSpPr>
          <p:cNvPr id="18" name="Shape 16"/>
          <p:cNvSpPr/>
          <p:nvPr/>
        </p:nvSpPr>
        <p:spPr>
          <a:xfrm>
            <a:off x="4800600" y="2926080"/>
            <a:ext cx="4023360" cy="1627632"/>
          </a:xfrm>
          <a:prstGeom prst="roundRect">
            <a:avLst>
              <a:gd name="adj" fmla="val 6742"/>
            </a:avLst>
          </a:prstGeom>
          <a:solidFill>
            <a:srgbClr val="FFFFFF"/>
          </a:solidFill>
          <a:ln/>
          <a:effectLst>
            <a:outerShdw sx="100000" sy="100000" kx="0" ky="0" algn="bl" rotWithShape="0" blurRad="101600" dist="38100" dir="2700000">
              <a:srgbClr val="000000">
                <a:alpha val="18000"/>
              </a:srgbClr>
            </a:outerShdw>
          </a:effectLst>
        </p:spPr>
      </p:sp>
      <p:sp>
        <p:nvSpPr>
          <p:cNvPr id="19" name="Shape 17"/>
          <p:cNvSpPr/>
          <p:nvPr/>
        </p:nvSpPr>
        <p:spPr>
          <a:xfrm>
            <a:off x="4965192" y="3090672"/>
            <a:ext cx="594360" cy="594360"/>
          </a:xfrm>
          <a:prstGeom prst="ellipse">
            <a:avLst/>
          </a:prstGeom>
          <a:solidFill>
            <a:srgbClr val="1A2E4A"/>
          </a:solidFill>
          <a:ln w="12700">
            <a:solidFill>
              <a:srgbClr val="1A2E4A"/>
            </a:solidFill>
            <a:prstDash val="solid"/>
          </a:ln>
        </p:spPr>
      </p:sp>
      <p:sp>
        <p:nvSpPr>
          <p:cNvPr id="20" name="Text 18"/>
          <p:cNvSpPr/>
          <p:nvPr/>
        </p:nvSpPr>
        <p:spPr>
          <a:xfrm>
            <a:off x="4965192" y="3090672"/>
            <a:ext cx="594360" cy="594360"/>
          </a:xfrm>
          <a:prstGeom prst="rect">
            <a:avLst/>
          </a:prstGeom>
          <a:noFill/>
          <a:ln/>
        </p:spPr>
        <p:txBody>
          <a:bodyPr wrap="square" lIns="0" tIns="0" rIns="0" bIns="0" rtlCol="0" anchor="ctr"/>
          <a:lstStyle/>
          <a:p>
            <a:pPr algn="ctr" indent="0" marL="0">
              <a:buNone/>
            </a:pPr>
            <a:r>
              <a:rPr lang="en-US" sz="1200" b="1" dirty="0">
                <a:solidFill>
                  <a:srgbClr val="C9A84C"/>
                </a:solidFill>
                <a:latin typeface="Cambria" pitchFamily="34" charset="0"/>
                <a:ea typeface="Cambria" pitchFamily="34" charset="-122"/>
                <a:cs typeface="Cambria" pitchFamily="34" charset="-120"/>
              </a:rPr>
              <a:t>04</a:t>
            </a:r>
            <a:endParaRPr lang="en-US" sz="1200" dirty="0"/>
          </a:p>
        </p:txBody>
      </p:sp>
      <p:sp>
        <p:nvSpPr>
          <p:cNvPr id="21" name="Text 19"/>
          <p:cNvSpPr/>
          <p:nvPr/>
        </p:nvSpPr>
        <p:spPr>
          <a:xfrm>
            <a:off x="5669280" y="3090672"/>
            <a:ext cx="3017520" cy="457200"/>
          </a:xfrm>
          <a:prstGeom prst="rect">
            <a:avLst/>
          </a:prstGeom>
          <a:noFill/>
          <a:ln/>
        </p:spPr>
        <p:txBody>
          <a:bodyPr wrap="square" lIns="0" tIns="0" rIns="0" bIns="0" rtlCol="0" anchor="t"/>
          <a:lstStyle/>
          <a:p>
            <a:pPr algn="l" indent="0" marL="0">
              <a:buNone/>
            </a:pPr>
            <a:r>
              <a:rPr lang="en-US" sz="1400" b="1" dirty="0">
                <a:solidFill>
                  <a:srgbClr val="1A2E4A"/>
                </a:solidFill>
                <a:latin typeface="Cambria" pitchFamily="34" charset="0"/>
                <a:ea typeface="Cambria" pitchFamily="34" charset="-122"/>
                <a:cs typeface="Cambria" pitchFamily="34" charset="-120"/>
              </a:rPr>
              <a:t>Kesimpulan &amp; Saran</a:t>
            </a:r>
            <a:endParaRPr lang="en-US" sz="1400" dirty="0"/>
          </a:p>
        </p:txBody>
      </p:sp>
      <p:sp>
        <p:nvSpPr>
          <p:cNvPr id="22" name="Text 20"/>
          <p:cNvSpPr/>
          <p:nvPr/>
        </p:nvSpPr>
        <p:spPr>
          <a:xfrm>
            <a:off x="4965192" y="3611880"/>
            <a:ext cx="3703320" cy="82296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Temuan utama dan rekomendasi penelitian lanjutan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C9A84C"/>
          </a:solidFill>
          <a:ln w="12700">
            <a:solidFill>
              <a:srgbClr val="C9A84C"/>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1A2E4A"/>
                </a:solidFill>
                <a:latin typeface="Calibri" pitchFamily="34" charset="0"/>
                <a:ea typeface="Calibri" pitchFamily="34" charset="-122"/>
                <a:cs typeface="Calibri" pitchFamily="34" charset="-120"/>
              </a:rPr>
              <a:t>01  LATAR BELAKANG</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Mengapa Masalah Ini Penting?</a:t>
            </a:r>
            <a:endParaRPr lang="en-US" sz="2600" dirty="0"/>
          </a:p>
        </p:txBody>
      </p:sp>
      <p:sp>
        <p:nvSpPr>
          <p:cNvPr id="5" name="Shape 3"/>
          <p:cNvSpPr/>
          <p:nvPr/>
        </p:nvSpPr>
        <p:spPr>
          <a:xfrm>
            <a:off x="457200" y="1417320"/>
            <a:ext cx="4023360" cy="1600200"/>
          </a:xfrm>
          <a:prstGeom prst="roundRect">
            <a:avLst>
              <a:gd name="adj" fmla="val 6857"/>
            </a:avLst>
          </a:prstGeom>
          <a:solidFill>
            <a:srgbClr val="1E3A5F"/>
          </a:solidFill>
          <a:ln/>
          <a:effectLst>
            <a:outerShdw sx="100000" sy="100000" kx="0" ky="0" algn="bl" rotWithShape="0" blurRad="101600" dist="38100" dir="2700000">
              <a:srgbClr val="000000">
                <a:alpha val="18000"/>
              </a:srgbClr>
            </a:outerShdw>
          </a:effectLst>
        </p:spPr>
      </p:sp>
      <p:sp>
        <p:nvSpPr>
          <p:cNvPr id="6" name="Text 4"/>
          <p:cNvSpPr/>
          <p:nvPr/>
        </p:nvSpPr>
        <p:spPr>
          <a:xfrm>
            <a:off x="594360" y="155448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1115568" y="1554480"/>
            <a:ext cx="324612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Ancaman Nyata</a:t>
            </a:r>
            <a:endParaRPr lang="en-US" sz="1300" dirty="0"/>
          </a:p>
        </p:txBody>
      </p:sp>
      <p:sp>
        <p:nvSpPr>
          <p:cNvPr id="8" name="Text 6"/>
          <p:cNvSpPr/>
          <p:nvPr/>
        </p:nvSpPr>
        <p:spPr>
          <a:xfrm>
            <a:off x="594360" y="2011680"/>
            <a:ext cx="3749040" cy="9144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Situs arkeologi Mesir (Dashur, Saqqara) mengalami penjarahan dan penggalian ilegal yang merusak konteks historis tak ternilai.</a:t>
            </a:r>
            <a:endParaRPr lang="en-US" sz="1000" dirty="0"/>
          </a:p>
        </p:txBody>
      </p:sp>
      <p:sp>
        <p:nvSpPr>
          <p:cNvPr id="9" name="Shape 7"/>
          <p:cNvSpPr/>
          <p:nvPr/>
        </p:nvSpPr>
        <p:spPr>
          <a:xfrm>
            <a:off x="4800600" y="1417320"/>
            <a:ext cx="4023360" cy="1600200"/>
          </a:xfrm>
          <a:prstGeom prst="roundRect">
            <a:avLst>
              <a:gd name="adj" fmla="val 6857"/>
            </a:avLst>
          </a:prstGeom>
          <a:solidFill>
            <a:srgbClr val="1E3A5F"/>
          </a:solidFill>
          <a:ln/>
          <a:effectLst>
            <a:outerShdw sx="100000" sy="100000" kx="0" ky="0" algn="bl" rotWithShape="0" blurRad="101600" dist="38100" dir="2700000">
              <a:srgbClr val="000000">
                <a:alpha val="18000"/>
              </a:srgbClr>
            </a:outerShdw>
          </a:effectLst>
        </p:spPr>
      </p:sp>
      <p:sp>
        <p:nvSpPr>
          <p:cNvPr id="10" name="Text 8"/>
          <p:cNvSpPr/>
          <p:nvPr/>
        </p:nvSpPr>
        <p:spPr>
          <a:xfrm>
            <a:off x="4937760" y="155448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5458968" y="1554480"/>
            <a:ext cx="324612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Luasnya Wilayah</a:t>
            </a:r>
            <a:endParaRPr lang="en-US" sz="1300" dirty="0"/>
          </a:p>
        </p:txBody>
      </p:sp>
      <p:sp>
        <p:nvSpPr>
          <p:cNvPr id="12" name="Text 10"/>
          <p:cNvSpPr/>
          <p:nvPr/>
        </p:nvSpPr>
        <p:spPr>
          <a:xfrm>
            <a:off x="4937760" y="2011680"/>
            <a:ext cx="3749040" cy="9144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Pemantauan manual di gurun pasir sangat tidak efisien dan mahal. Citra satelit resolusi tinggi menjadi solusi pemantauan berkala yang efektif.</a:t>
            </a:r>
            <a:endParaRPr lang="en-US" sz="1000" dirty="0"/>
          </a:p>
        </p:txBody>
      </p:sp>
      <p:sp>
        <p:nvSpPr>
          <p:cNvPr id="13" name="Shape 11"/>
          <p:cNvSpPr/>
          <p:nvPr/>
        </p:nvSpPr>
        <p:spPr>
          <a:xfrm>
            <a:off x="457200" y="3200400"/>
            <a:ext cx="4023360" cy="1600200"/>
          </a:xfrm>
          <a:prstGeom prst="roundRect">
            <a:avLst>
              <a:gd name="adj" fmla="val 6857"/>
            </a:avLst>
          </a:prstGeom>
          <a:solidFill>
            <a:srgbClr val="1E3A5F"/>
          </a:solidFill>
          <a:ln/>
          <a:effectLst>
            <a:outerShdw sx="100000" sy="100000" kx="0" ky="0" algn="bl" rotWithShape="0" blurRad="101600" dist="38100" dir="2700000">
              <a:srgbClr val="000000">
                <a:alpha val="18000"/>
              </a:srgbClr>
            </a:outerShdw>
          </a:effectLst>
        </p:spPr>
      </p:sp>
      <p:sp>
        <p:nvSpPr>
          <p:cNvPr id="14" name="Text 12"/>
          <p:cNvSpPr/>
          <p:nvPr/>
        </p:nvSpPr>
        <p:spPr>
          <a:xfrm>
            <a:off x="594360" y="333756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1115568" y="3337560"/>
            <a:ext cx="324612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Kebutuhan Otomatisasi AI</a:t>
            </a:r>
            <a:endParaRPr lang="en-US" sz="1300" dirty="0"/>
          </a:p>
        </p:txBody>
      </p:sp>
      <p:sp>
        <p:nvSpPr>
          <p:cNvPr id="16" name="Text 14"/>
          <p:cNvSpPr/>
          <p:nvPr/>
        </p:nvSpPr>
        <p:spPr>
          <a:xfrm>
            <a:off x="594360" y="3794760"/>
            <a:ext cx="3749040" cy="9144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Inspeksi citra manual membutuhkan waktu lama dan rawan human error karena lubang galian tersamar oleh tekstur pasir yang monoton.</a:t>
            </a:r>
            <a:endParaRPr lang="en-US" sz="1000" dirty="0"/>
          </a:p>
        </p:txBody>
      </p:sp>
      <p:sp>
        <p:nvSpPr>
          <p:cNvPr id="17" name="Shape 15"/>
          <p:cNvSpPr/>
          <p:nvPr/>
        </p:nvSpPr>
        <p:spPr>
          <a:xfrm>
            <a:off x="4800600" y="3200400"/>
            <a:ext cx="4023360" cy="1600200"/>
          </a:xfrm>
          <a:prstGeom prst="roundRect">
            <a:avLst>
              <a:gd name="adj" fmla="val 6857"/>
            </a:avLst>
          </a:prstGeom>
          <a:solidFill>
            <a:srgbClr val="1E3A5F"/>
          </a:solidFill>
          <a:ln/>
          <a:effectLst>
            <a:outerShdw sx="100000" sy="100000" kx="0" ky="0" algn="bl" rotWithShape="0" blurRad="101600" dist="38100" dir="2700000">
              <a:srgbClr val="000000">
                <a:alpha val="18000"/>
              </a:srgbClr>
            </a:outerShdw>
          </a:effectLst>
        </p:spPr>
      </p:sp>
      <p:sp>
        <p:nvSpPr>
          <p:cNvPr id="18" name="Text 16"/>
          <p:cNvSpPr/>
          <p:nvPr/>
        </p:nvSpPr>
        <p:spPr>
          <a:xfrm>
            <a:off x="4937760" y="333756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5458968" y="3337560"/>
            <a:ext cx="324612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Tantangan Small Dataset</a:t>
            </a:r>
            <a:endParaRPr lang="en-US" sz="1300" dirty="0"/>
          </a:p>
        </p:txBody>
      </p:sp>
      <p:sp>
        <p:nvSpPr>
          <p:cNvPr id="20" name="Text 18"/>
          <p:cNvSpPr/>
          <p:nvPr/>
        </p:nvSpPr>
        <p:spPr>
          <a:xfrm>
            <a:off x="4937760" y="3794760"/>
            <a:ext cx="3749040" cy="9144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Ketersediaan data berlabel sangat terbatas (322 sampel), sehingga diperlukan pendekatan yang tepat antara ML klasik dan Deep Learning.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1A2E4A"/>
          </a:solidFill>
          <a:ln w="12700">
            <a:solidFill>
              <a:srgbClr val="1A2E4A"/>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01  LATAR BELAKANG</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A2E4A"/>
                </a:solidFill>
                <a:latin typeface="Cambria" pitchFamily="34" charset="0"/>
                <a:ea typeface="Cambria" pitchFamily="34" charset="-122"/>
                <a:cs typeface="Cambria" pitchFamily="34" charset="-120"/>
              </a:rPr>
              <a:t>Tujuan &amp; Pertanyaan Penelitian</a:t>
            </a:r>
            <a:endParaRPr lang="en-US" sz="2600" dirty="0"/>
          </a:p>
        </p:txBody>
      </p:sp>
      <p:sp>
        <p:nvSpPr>
          <p:cNvPr id="5" name="Shape 3"/>
          <p:cNvSpPr/>
          <p:nvPr/>
        </p:nvSpPr>
        <p:spPr>
          <a:xfrm>
            <a:off x="457200" y="1371600"/>
            <a:ext cx="4023360" cy="1645920"/>
          </a:xfrm>
          <a:prstGeom prst="roundRect">
            <a:avLst>
              <a:gd name="adj" fmla="val 7778"/>
            </a:avLst>
          </a:prstGeom>
          <a:solidFill>
            <a:srgbClr val="FFFFFF"/>
          </a:solidFill>
          <a:ln/>
          <a:effectLst>
            <a:outerShdw sx="100000" sy="100000" kx="0" ky="0" algn="bl" rotWithShape="0" blurRad="101600" dist="38100" dir="2700000">
              <a:srgbClr val="000000">
                <a:alpha val="18000"/>
              </a:srgbClr>
            </a:outerShdw>
          </a:effectLst>
        </p:spPr>
      </p:sp>
      <p:sp>
        <p:nvSpPr>
          <p:cNvPr id="6" name="Shape 4"/>
          <p:cNvSpPr/>
          <p:nvPr/>
        </p:nvSpPr>
        <p:spPr>
          <a:xfrm>
            <a:off x="621792" y="1508760"/>
            <a:ext cx="640080" cy="640080"/>
          </a:xfrm>
          <a:prstGeom prst="ellipse">
            <a:avLst/>
          </a:prstGeom>
          <a:solidFill>
            <a:srgbClr val="1A2E4A"/>
          </a:solidFill>
          <a:ln w="12700">
            <a:solidFill>
              <a:srgbClr val="1A2E4A"/>
            </a:solidFill>
            <a:prstDash val="solid"/>
          </a:ln>
        </p:spPr>
      </p:sp>
      <p:sp>
        <p:nvSpPr>
          <p:cNvPr id="7" name="Text 5"/>
          <p:cNvSpPr/>
          <p:nvPr/>
        </p:nvSpPr>
        <p:spPr>
          <a:xfrm>
            <a:off x="621792" y="1508760"/>
            <a:ext cx="640080" cy="640080"/>
          </a:xfrm>
          <a:prstGeom prst="rect">
            <a:avLst/>
          </a:prstGeom>
          <a:noFill/>
          <a:ln/>
        </p:spPr>
        <p:txBody>
          <a:bodyPr wrap="square" lIns="0" tIns="0" rIns="0" bIns="0" rtlCol="0" anchor="ctr"/>
          <a:lstStyle/>
          <a:p>
            <a:pPr algn="ctr" indent="0" marL="0">
              <a:buNone/>
            </a:pPr>
            <a:r>
              <a:rPr lang="en-US" sz="1800" b="1" dirty="0">
                <a:solidFill>
                  <a:srgbClr val="C9A84C"/>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21792" y="2240280"/>
            <a:ext cx="3749040" cy="731520"/>
          </a:xfrm>
          <a:prstGeom prst="rect">
            <a:avLst/>
          </a:prstGeom>
          <a:noFill/>
          <a:ln/>
        </p:spPr>
        <p:txBody>
          <a:bodyPr wrap="square" lIns="50800" tIns="50800" rIns="50800" bIns="50800" rtlCol="0" anchor="t"/>
          <a:lstStyle/>
          <a:p>
            <a:pPr algn="l" indent="0" marL="0">
              <a:buNone/>
            </a:pPr>
            <a:r>
              <a:rPr lang="en-US" sz="1100" dirty="0">
                <a:solidFill>
                  <a:srgbClr val="1C2B3A"/>
                </a:solidFill>
                <a:latin typeface="Calibri" pitchFamily="34" charset="0"/>
                <a:ea typeface="Calibri" pitchFamily="34" charset="-122"/>
                <a:cs typeface="Calibri" pitchFamily="34" charset="-120"/>
              </a:rPr>
              <a:t>Mengembangkan model klasifikasi citra biner yang mampu membedakan area situs arkeologi yang aman (NotLooted) dan yang mengalami penjarahan (Looted).</a:t>
            </a:r>
            <a:endParaRPr lang="en-US" sz="1100" dirty="0"/>
          </a:p>
        </p:txBody>
      </p:sp>
      <p:sp>
        <p:nvSpPr>
          <p:cNvPr id="9" name="Shape 7"/>
          <p:cNvSpPr/>
          <p:nvPr/>
        </p:nvSpPr>
        <p:spPr>
          <a:xfrm>
            <a:off x="4800600" y="1371600"/>
            <a:ext cx="4023360" cy="1645920"/>
          </a:xfrm>
          <a:prstGeom prst="roundRect">
            <a:avLst>
              <a:gd name="adj" fmla="val 7778"/>
            </a:avLst>
          </a:prstGeom>
          <a:solidFill>
            <a:srgbClr val="FFFFFF"/>
          </a:solidFill>
          <a:ln/>
          <a:effectLst>
            <a:outerShdw sx="100000" sy="100000" kx="0" ky="0" algn="bl" rotWithShape="0" blurRad="101600" dist="38100" dir="2700000">
              <a:srgbClr val="000000">
                <a:alpha val="18000"/>
              </a:srgbClr>
            </a:outerShdw>
          </a:effectLst>
        </p:spPr>
      </p:sp>
      <p:sp>
        <p:nvSpPr>
          <p:cNvPr id="10" name="Shape 8"/>
          <p:cNvSpPr/>
          <p:nvPr/>
        </p:nvSpPr>
        <p:spPr>
          <a:xfrm>
            <a:off x="4965192" y="1508760"/>
            <a:ext cx="640080" cy="640080"/>
          </a:xfrm>
          <a:prstGeom prst="ellipse">
            <a:avLst/>
          </a:prstGeom>
          <a:solidFill>
            <a:srgbClr val="1A2E4A"/>
          </a:solidFill>
          <a:ln w="12700">
            <a:solidFill>
              <a:srgbClr val="1A2E4A"/>
            </a:solidFill>
            <a:prstDash val="solid"/>
          </a:ln>
        </p:spPr>
      </p:sp>
      <p:sp>
        <p:nvSpPr>
          <p:cNvPr id="11" name="Text 9"/>
          <p:cNvSpPr/>
          <p:nvPr/>
        </p:nvSpPr>
        <p:spPr>
          <a:xfrm>
            <a:off x="4965192" y="1508760"/>
            <a:ext cx="640080" cy="640080"/>
          </a:xfrm>
          <a:prstGeom prst="rect">
            <a:avLst/>
          </a:prstGeom>
          <a:noFill/>
          <a:ln/>
        </p:spPr>
        <p:txBody>
          <a:bodyPr wrap="square" lIns="0" tIns="0" rIns="0" bIns="0" rtlCol="0" anchor="ctr"/>
          <a:lstStyle/>
          <a:p>
            <a:pPr algn="ctr" indent="0" marL="0">
              <a:buNone/>
            </a:pPr>
            <a:r>
              <a:rPr lang="en-US" sz="1800" b="1" dirty="0">
                <a:solidFill>
                  <a:srgbClr val="C9A84C"/>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965192" y="2240280"/>
            <a:ext cx="3749040" cy="731520"/>
          </a:xfrm>
          <a:prstGeom prst="rect">
            <a:avLst/>
          </a:prstGeom>
          <a:noFill/>
          <a:ln/>
        </p:spPr>
        <p:txBody>
          <a:bodyPr wrap="square" lIns="50800" tIns="50800" rIns="50800" bIns="50800" rtlCol="0" anchor="t"/>
          <a:lstStyle/>
          <a:p>
            <a:pPr algn="l" indent="0" marL="0">
              <a:buNone/>
            </a:pPr>
            <a:r>
              <a:rPr lang="en-US" sz="1100" dirty="0">
                <a:solidFill>
                  <a:srgbClr val="1C2B3A"/>
                </a:solidFill>
                <a:latin typeface="Calibri" pitchFamily="34" charset="0"/>
                <a:ea typeface="Calibri" pitchFamily="34" charset="-122"/>
                <a:cs typeface="Calibri" pitchFamily="34" charset="-120"/>
              </a:rPr>
              <a:t>Melakukan analisis komparatif untuk menentukan algoritma yang paling andal dan optimal dalam menangani klasifikasi citra satelit pada small dataset.</a:t>
            </a:r>
            <a:endParaRPr lang="en-US" sz="1100" dirty="0"/>
          </a:p>
        </p:txBody>
      </p:sp>
      <p:sp>
        <p:nvSpPr>
          <p:cNvPr id="13" name="Text 11"/>
          <p:cNvSpPr/>
          <p:nvPr/>
        </p:nvSpPr>
        <p:spPr>
          <a:xfrm>
            <a:off x="457200" y="3154680"/>
            <a:ext cx="8229600" cy="411480"/>
          </a:xfrm>
          <a:prstGeom prst="rect">
            <a:avLst/>
          </a:prstGeom>
          <a:noFill/>
          <a:ln/>
        </p:spPr>
        <p:txBody>
          <a:bodyPr wrap="square"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Pertanyaan Penelitian</a:t>
            </a:r>
            <a:endParaRPr lang="en-US" sz="1600" dirty="0"/>
          </a:p>
        </p:txBody>
      </p:sp>
      <p:sp>
        <p:nvSpPr>
          <p:cNvPr id="14" name="Shape 12"/>
          <p:cNvSpPr/>
          <p:nvPr/>
        </p:nvSpPr>
        <p:spPr>
          <a:xfrm>
            <a:off x="457200" y="3611880"/>
            <a:ext cx="8229600" cy="594360"/>
          </a:xfrm>
          <a:prstGeom prst="roundRect">
            <a:avLst>
              <a:gd name="adj" fmla="val 15385"/>
            </a:avLst>
          </a:prstGeom>
          <a:solidFill>
            <a:srgbClr val="FFFFFF"/>
          </a:solidFill>
          <a:ln/>
          <a:effectLst>
            <a:outerShdw sx="100000" sy="100000" kx="0" ky="0" algn="bl" rotWithShape="0" blurRad="101600" dist="38100" dir="2700000">
              <a:srgbClr val="000000">
                <a:alpha val="18000"/>
              </a:srgbClr>
            </a:outerShdw>
          </a:effectLst>
        </p:spPr>
      </p:sp>
      <p:sp>
        <p:nvSpPr>
          <p:cNvPr id="15" name="Text 13"/>
          <p:cNvSpPr/>
          <p:nvPr/>
        </p:nvSpPr>
        <p:spPr>
          <a:xfrm>
            <a:off x="457200" y="3630168"/>
            <a:ext cx="8229600" cy="566928"/>
          </a:xfrm>
          <a:prstGeom prst="rect">
            <a:avLst/>
          </a:prstGeom>
          <a:noFill/>
          <a:ln/>
        </p:spPr>
        <p:txBody>
          <a:bodyPr wrap="square" lIns="127000" tIns="127000" rIns="127000" bIns="127000" rtlCol="0" anchor="ctr"/>
          <a:lstStyle/>
          <a:p>
            <a:pPr algn="l" indent="0" marL="0">
              <a:buNone/>
            </a:pPr>
            <a:r>
              <a:rPr lang="en-US" sz="1050" dirty="0">
                <a:solidFill>
                  <a:srgbClr val="4A6080"/>
                </a:solidFill>
                <a:latin typeface="Calibri" pitchFamily="34" charset="0"/>
                <a:ea typeface="Calibri" pitchFamily="34" charset="-122"/>
                <a:cs typeface="Calibri" pitchFamily="34" charset="-120"/>
              </a:rPr>
              <a:t>Q1  Bagaimana membangun sistem cerdas berbasis Machine Learning untuk mendeteksi penjarahan situs arkeologi menggunakan data citra satelit?</a:t>
            </a:r>
            <a:endParaRPr lang="en-US" sz="1050" dirty="0"/>
          </a:p>
        </p:txBody>
      </p:sp>
      <p:sp>
        <p:nvSpPr>
          <p:cNvPr id="16" name="Shape 14"/>
          <p:cNvSpPr/>
          <p:nvPr/>
        </p:nvSpPr>
        <p:spPr>
          <a:xfrm>
            <a:off x="457200" y="4297680"/>
            <a:ext cx="8229600" cy="594360"/>
          </a:xfrm>
          <a:prstGeom prst="roundRect">
            <a:avLst>
              <a:gd name="adj" fmla="val 15385"/>
            </a:avLst>
          </a:prstGeom>
          <a:solidFill>
            <a:srgbClr val="FFFFFF"/>
          </a:solidFill>
          <a:ln/>
          <a:effectLst>
            <a:outerShdw sx="100000" sy="100000" kx="0" ky="0" algn="bl" rotWithShape="0" blurRad="101600" dist="38100" dir="2700000">
              <a:srgbClr val="000000">
                <a:alpha val="18000"/>
              </a:srgbClr>
            </a:outerShdw>
          </a:effectLst>
        </p:spPr>
      </p:sp>
      <p:sp>
        <p:nvSpPr>
          <p:cNvPr id="17" name="Text 15"/>
          <p:cNvSpPr/>
          <p:nvPr/>
        </p:nvSpPr>
        <p:spPr>
          <a:xfrm>
            <a:off x="457200" y="4315968"/>
            <a:ext cx="8229600" cy="566928"/>
          </a:xfrm>
          <a:prstGeom prst="rect">
            <a:avLst/>
          </a:prstGeom>
          <a:noFill/>
          <a:ln/>
        </p:spPr>
        <p:txBody>
          <a:bodyPr wrap="square" lIns="127000" tIns="127000" rIns="127000" bIns="127000" rtlCol="0" anchor="ctr"/>
          <a:lstStyle/>
          <a:p>
            <a:pPr algn="l" indent="0" marL="0">
              <a:buNone/>
            </a:pPr>
            <a:r>
              <a:rPr lang="en-US" sz="1050" dirty="0">
                <a:solidFill>
                  <a:srgbClr val="4A6080"/>
                </a:solidFill>
                <a:latin typeface="Calibri" pitchFamily="34" charset="0"/>
                <a:ea typeface="Calibri" pitchFamily="34" charset="-122"/>
                <a:cs typeface="Calibri" pitchFamily="34" charset="-120"/>
              </a:rPr>
              <a:t>Q2  Bagaimana perbandingan kinerja antara ML klasik (HOG + GLCM + Color Histogram + PCA + SVM) vs Deep Learning (CNN) pada small dataset citra satelit?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C9A84C"/>
          </a:solidFill>
          <a:ln w="12700">
            <a:solidFill>
              <a:srgbClr val="C9A84C"/>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1A2E4A"/>
                </a:solidFill>
                <a:latin typeface="Calibri" pitchFamily="34" charset="0"/>
                <a:ea typeface="Calibri" pitchFamily="34" charset="-122"/>
                <a:cs typeface="Calibri" pitchFamily="34" charset="-120"/>
              </a:rPr>
              <a:t>02  METODOLOGI</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Dataset</a:t>
            </a:r>
            <a:endParaRPr lang="en-US" sz="2600" dirty="0"/>
          </a:p>
        </p:txBody>
      </p:sp>
      <p:sp>
        <p:nvSpPr>
          <p:cNvPr id="5" name="Shape 3"/>
          <p:cNvSpPr/>
          <p:nvPr/>
        </p:nvSpPr>
        <p:spPr>
          <a:xfrm>
            <a:off x="457200" y="1371600"/>
            <a:ext cx="1874520" cy="1188720"/>
          </a:xfrm>
          <a:prstGeom prst="roundRect">
            <a:avLst>
              <a:gd name="adj" fmla="val 9231"/>
            </a:avLst>
          </a:prstGeom>
          <a:solidFill>
            <a:srgbClr val="1E3A5F"/>
          </a:solidFill>
          <a:ln/>
          <a:effectLst>
            <a:outerShdw sx="100000" sy="100000" kx="0" ky="0" algn="bl" rotWithShape="0" blurRad="101600" dist="38100" dir="2700000">
              <a:srgbClr val="000000">
                <a:alpha val="18000"/>
              </a:srgbClr>
            </a:outerShdw>
          </a:effectLst>
        </p:spPr>
      </p:sp>
      <p:sp>
        <p:nvSpPr>
          <p:cNvPr id="6" name="Text 4"/>
          <p:cNvSpPr/>
          <p:nvPr/>
        </p:nvSpPr>
        <p:spPr>
          <a:xfrm>
            <a:off x="457200" y="1417320"/>
            <a:ext cx="1874520" cy="685800"/>
          </a:xfrm>
          <a:prstGeom prst="rect">
            <a:avLst/>
          </a:prstGeom>
          <a:noFill/>
          <a:ln/>
        </p:spPr>
        <p:txBody>
          <a:bodyPr wrap="square" lIns="0" tIns="0" rIns="0" bIns="0" rtlCol="0" anchor="ctr"/>
          <a:lstStyle/>
          <a:p>
            <a:pPr algn="ctr" indent="0" marL="0">
              <a:buNone/>
            </a:pPr>
            <a:r>
              <a:rPr lang="en-US" sz="2600" b="1" dirty="0">
                <a:solidFill>
                  <a:srgbClr val="C9A84C"/>
                </a:solidFill>
                <a:latin typeface="Cambria" pitchFamily="34" charset="0"/>
                <a:ea typeface="Cambria" pitchFamily="34" charset="-122"/>
                <a:cs typeface="Cambria" pitchFamily="34" charset="-120"/>
              </a:rPr>
              <a:t>322</a:t>
            </a:r>
            <a:endParaRPr lang="en-US" sz="2600" dirty="0"/>
          </a:p>
        </p:txBody>
      </p:sp>
      <p:sp>
        <p:nvSpPr>
          <p:cNvPr id="7" name="Text 5"/>
          <p:cNvSpPr/>
          <p:nvPr/>
        </p:nvSpPr>
        <p:spPr>
          <a:xfrm>
            <a:off x="457200" y="2057400"/>
            <a:ext cx="1874520" cy="411480"/>
          </a:xfrm>
          <a:prstGeom prst="rect">
            <a:avLst/>
          </a:prstGeom>
          <a:noFill/>
          <a:ln/>
        </p:spPr>
        <p:txBody>
          <a:bodyPr wrap="square" lIns="25400" tIns="25400" rIns="25400" bIns="25400" rtlCol="0" anchor="t"/>
          <a:lstStyle/>
          <a:p>
            <a:pPr algn="ctr" indent="0" marL="0">
              <a:buNone/>
            </a:pPr>
            <a:r>
              <a:rPr lang="en-US" sz="950" dirty="0">
                <a:solidFill>
                  <a:srgbClr val="8AA3BE"/>
                </a:solidFill>
                <a:latin typeface="Calibri" pitchFamily="34" charset="0"/>
                <a:ea typeface="Calibri" pitchFamily="34" charset="-122"/>
                <a:cs typeface="Calibri" pitchFamily="34" charset="-120"/>
              </a:rPr>
              <a:t>Total Citra Satelit</a:t>
            </a:r>
            <a:endParaRPr lang="en-US" sz="950" dirty="0"/>
          </a:p>
        </p:txBody>
      </p:sp>
      <p:sp>
        <p:nvSpPr>
          <p:cNvPr id="8" name="Shape 6"/>
          <p:cNvSpPr/>
          <p:nvPr/>
        </p:nvSpPr>
        <p:spPr>
          <a:xfrm>
            <a:off x="2560320" y="1371600"/>
            <a:ext cx="1874520" cy="1188720"/>
          </a:xfrm>
          <a:prstGeom prst="roundRect">
            <a:avLst>
              <a:gd name="adj" fmla="val 9231"/>
            </a:avLst>
          </a:prstGeom>
          <a:solidFill>
            <a:srgbClr val="1E3A5F"/>
          </a:solidFill>
          <a:ln/>
          <a:effectLst>
            <a:outerShdw sx="100000" sy="100000" kx="0" ky="0" algn="bl" rotWithShape="0" blurRad="101600" dist="38100" dir="2700000">
              <a:srgbClr val="000000">
                <a:alpha val="18000"/>
              </a:srgbClr>
            </a:outerShdw>
          </a:effectLst>
        </p:spPr>
      </p:sp>
      <p:sp>
        <p:nvSpPr>
          <p:cNvPr id="9" name="Text 7"/>
          <p:cNvSpPr/>
          <p:nvPr/>
        </p:nvSpPr>
        <p:spPr>
          <a:xfrm>
            <a:off x="2560320" y="1417320"/>
            <a:ext cx="1874520" cy="685800"/>
          </a:xfrm>
          <a:prstGeom prst="rect">
            <a:avLst/>
          </a:prstGeom>
          <a:noFill/>
          <a:ln/>
        </p:spPr>
        <p:txBody>
          <a:bodyPr wrap="square" lIns="0" tIns="0" rIns="0" bIns="0" rtlCol="0" anchor="ctr"/>
          <a:lstStyle/>
          <a:p>
            <a:pPr algn="ctr" indent="0" marL="0">
              <a:buNone/>
            </a:pPr>
            <a:r>
              <a:rPr lang="en-US" sz="2600" b="1" dirty="0">
                <a:solidFill>
                  <a:srgbClr val="C9A84C"/>
                </a:solidFill>
                <a:latin typeface="Cambria" pitchFamily="34" charset="0"/>
                <a:ea typeface="Cambria" pitchFamily="34" charset="-122"/>
                <a:cs typeface="Cambria" pitchFamily="34" charset="-120"/>
              </a:rPr>
              <a:t>256×256</a:t>
            </a:r>
            <a:endParaRPr lang="en-US" sz="2600" dirty="0"/>
          </a:p>
        </p:txBody>
      </p:sp>
      <p:sp>
        <p:nvSpPr>
          <p:cNvPr id="10" name="Text 8"/>
          <p:cNvSpPr/>
          <p:nvPr/>
        </p:nvSpPr>
        <p:spPr>
          <a:xfrm>
            <a:off x="2560320" y="2057400"/>
            <a:ext cx="1874520" cy="411480"/>
          </a:xfrm>
          <a:prstGeom prst="rect">
            <a:avLst/>
          </a:prstGeom>
          <a:noFill/>
          <a:ln/>
        </p:spPr>
        <p:txBody>
          <a:bodyPr wrap="square" lIns="25400" tIns="25400" rIns="25400" bIns="25400" rtlCol="0" anchor="t"/>
          <a:lstStyle/>
          <a:p>
            <a:pPr algn="ctr" indent="0" marL="0">
              <a:buNone/>
            </a:pPr>
            <a:r>
              <a:rPr lang="en-US" sz="950" dirty="0">
                <a:solidFill>
                  <a:srgbClr val="8AA3BE"/>
                </a:solidFill>
                <a:latin typeface="Calibri" pitchFamily="34" charset="0"/>
                <a:ea typeface="Calibri" pitchFamily="34" charset="-122"/>
                <a:cs typeface="Calibri" pitchFamily="34" charset="-120"/>
              </a:rPr>
              <a:t>Resolusi Piksel (JPG)</a:t>
            </a:r>
            <a:endParaRPr lang="en-US" sz="950" dirty="0"/>
          </a:p>
        </p:txBody>
      </p:sp>
      <p:sp>
        <p:nvSpPr>
          <p:cNvPr id="11" name="Shape 9"/>
          <p:cNvSpPr/>
          <p:nvPr/>
        </p:nvSpPr>
        <p:spPr>
          <a:xfrm>
            <a:off x="4663440" y="1371600"/>
            <a:ext cx="1874520" cy="1188720"/>
          </a:xfrm>
          <a:prstGeom prst="roundRect">
            <a:avLst>
              <a:gd name="adj" fmla="val 9231"/>
            </a:avLst>
          </a:prstGeom>
          <a:solidFill>
            <a:srgbClr val="1E3A5F"/>
          </a:solidFill>
          <a:ln/>
          <a:effectLst>
            <a:outerShdw sx="100000" sy="100000" kx="0" ky="0" algn="bl" rotWithShape="0" blurRad="101600" dist="38100" dir="2700000">
              <a:srgbClr val="000000">
                <a:alpha val="18000"/>
              </a:srgbClr>
            </a:outerShdw>
          </a:effectLst>
        </p:spPr>
      </p:sp>
      <p:sp>
        <p:nvSpPr>
          <p:cNvPr id="12" name="Text 10"/>
          <p:cNvSpPr/>
          <p:nvPr/>
        </p:nvSpPr>
        <p:spPr>
          <a:xfrm>
            <a:off x="4663440" y="1417320"/>
            <a:ext cx="1874520" cy="685800"/>
          </a:xfrm>
          <a:prstGeom prst="rect">
            <a:avLst/>
          </a:prstGeom>
          <a:noFill/>
          <a:ln/>
        </p:spPr>
        <p:txBody>
          <a:bodyPr wrap="square" lIns="0" tIns="0" rIns="0" bIns="0" rtlCol="0" anchor="ctr"/>
          <a:lstStyle/>
          <a:p>
            <a:pPr algn="ctr" indent="0" marL="0">
              <a:buNone/>
            </a:pPr>
            <a:r>
              <a:rPr lang="en-US" sz="2600" b="1" dirty="0">
                <a:solidFill>
                  <a:srgbClr val="C9A84C"/>
                </a:solidFill>
                <a:latin typeface="Cambria" pitchFamily="34" charset="0"/>
                <a:ea typeface="Cambria" pitchFamily="34" charset="-122"/>
                <a:cs typeface="Cambria" pitchFamily="34" charset="-120"/>
              </a:rPr>
              <a:t>176</a:t>
            </a:r>
            <a:endParaRPr lang="en-US" sz="2600" dirty="0"/>
          </a:p>
        </p:txBody>
      </p:sp>
      <p:sp>
        <p:nvSpPr>
          <p:cNvPr id="13" name="Text 11"/>
          <p:cNvSpPr/>
          <p:nvPr/>
        </p:nvSpPr>
        <p:spPr>
          <a:xfrm>
            <a:off x="4663440" y="2057400"/>
            <a:ext cx="1874520" cy="411480"/>
          </a:xfrm>
          <a:prstGeom prst="rect">
            <a:avLst/>
          </a:prstGeom>
          <a:noFill/>
          <a:ln/>
        </p:spPr>
        <p:txBody>
          <a:bodyPr wrap="square" lIns="25400" tIns="25400" rIns="25400" bIns="25400" rtlCol="0" anchor="t"/>
          <a:lstStyle/>
          <a:p>
            <a:pPr algn="ctr" indent="0" marL="0">
              <a:buNone/>
            </a:pPr>
            <a:r>
              <a:rPr lang="en-US" sz="950" dirty="0">
                <a:solidFill>
                  <a:srgbClr val="8AA3BE"/>
                </a:solidFill>
                <a:latin typeface="Calibri" pitchFamily="34" charset="0"/>
                <a:ea typeface="Calibri" pitchFamily="34" charset="-122"/>
                <a:cs typeface="Calibri" pitchFamily="34" charset="-120"/>
              </a:rPr>
              <a:t>Kelas Looted</a:t>
            </a:r>
            <a:endParaRPr lang="en-US" sz="950" dirty="0"/>
          </a:p>
        </p:txBody>
      </p:sp>
      <p:sp>
        <p:nvSpPr>
          <p:cNvPr id="14" name="Shape 12"/>
          <p:cNvSpPr/>
          <p:nvPr/>
        </p:nvSpPr>
        <p:spPr>
          <a:xfrm>
            <a:off x="6766560" y="1371600"/>
            <a:ext cx="1874520" cy="1188720"/>
          </a:xfrm>
          <a:prstGeom prst="roundRect">
            <a:avLst>
              <a:gd name="adj" fmla="val 9231"/>
            </a:avLst>
          </a:prstGeom>
          <a:solidFill>
            <a:srgbClr val="1E3A5F"/>
          </a:solidFill>
          <a:ln/>
          <a:effectLst>
            <a:outerShdw sx="100000" sy="100000" kx="0" ky="0" algn="bl" rotWithShape="0" blurRad="101600" dist="38100" dir="2700000">
              <a:srgbClr val="000000">
                <a:alpha val="18000"/>
              </a:srgbClr>
            </a:outerShdw>
          </a:effectLst>
        </p:spPr>
      </p:sp>
      <p:sp>
        <p:nvSpPr>
          <p:cNvPr id="15" name="Text 13"/>
          <p:cNvSpPr/>
          <p:nvPr/>
        </p:nvSpPr>
        <p:spPr>
          <a:xfrm>
            <a:off x="6766560" y="1417320"/>
            <a:ext cx="1874520" cy="685800"/>
          </a:xfrm>
          <a:prstGeom prst="rect">
            <a:avLst/>
          </a:prstGeom>
          <a:noFill/>
          <a:ln/>
        </p:spPr>
        <p:txBody>
          <a:bodyPr wrap="square" lIns="0" tIns="0" rIns="0" bIns="0" rtlCol="0" anchor="ctr"/>
          <a:lstStyle/>
          <a:p>
            <a:pPr algn="ctr" indent="0" marL="0">
              <a:buNone/>
            </a:pPr>
            <a:r>
              <a:rPr lang="en-US" sz="2600" b="1" dirty="0">
                <a:solidFill>
                  <a:srgbClr val="C9A84C"/>
                </a:solidFill>
                <a:latin typeface="Cambria" pitchFamily="34" charset="0"/>
                <a:ea typeface="Cambria" pitchFamily="34" charset="-122"/>
                <a:cs typeface="Cambria" pitchFamily="34" charset="-120"/>
              </a:rPr>
              <a:t>146</a:t>
            </a:r>
            <a:endParaRPr lang="en-US" sz="2600" dirty="0"/>
          </a:p>
        </p:txBody>
      </p:sp>
      <p:sp>
        <p:nvSpPr>
          <p:cNvPr id="16" name="Text 14"/>
          <p:cNvSpPr/>
          <p:nvPr/>
        </p:nvSpPr>
        <p:spPr>
          <a:xfrm>
            <a:off x="6766560" y="2057400"/>
            <a:ext cx="1874520" cy="411480"/>
          </a:xfrm>
          <a:prstGeom prst="rect">
            <a:avLst/>
          </a:prstGeom>
          <a:noFill/>
          <a:ln/>
        </p:spPr>
        <p:txBody>
          <a:bodyPr wrap="square" lIns="25400" tIns="25400" rIns="25400" bIns="25400" rtlCol="0" anchor="t"/>
          <a:lstStyle/>
          <a:p>
            <a:pPr algn="ctr" indent="0" marL="0">
              <a:buNone/>
            </a:pPr>
            <a:r>
              <a:rPr lang="en-US" sz="950" dirty="0">
                <a:solidFill>
                  <a:srgbClr val="8AA3BE"/>
                </a:solidFill>
                <a:latin typeface="Calibri" pitchFamily="34" charset="0"/>
                <a:ea typeface="Calibri" pitchFamily="34" charset="-122"/>
                <a:cs typeface="Calibri" pitchFamily="34" charset="-120"/>
              </a:rPr>
              <a:t>Kelas NotLooted</a:t>
            </a:r>
            <a:endParaRPr lang="en-US" sz="950" dirty="0"/>
          </a:p>
        </p:txBody>
      </p:sp>
      <p:sp>
        <p:nvSpPr>
          <p:cNvPr id="17" name="Text 15"/>
          <p:cNvSpPr/>
          <p:nvPr/>
        </p:nvSpPr>
        <p:spPr>
          <a:xfrm>
            <a:off x="457200" y="2724912"/>
            <a:ext cx="8229600" cy="320040"/>
          </a:xfrm>
          <a:prstGeom prst="rect">
            <a:avLst/>
          </a:prstGeom>
          <a:noFill/>
          <a:ln/>
        </p:spPr>
        <p:txBody>
          <a:bodyPr wrap="square" rtlCol="0" anchor="ctr"/>
          <a:lstStyle/>
          <a:p>
            <a:pPr algn="ctr" indent="0" marL="0">
              <a:buNone/>
            </a:pPr>
            <a:r>
              <a:rPr lang="en-US" sz="1000" i="1" dirty="0">
                <a:solidFill>
                  <a:srgbClr val="C9A84C"/>
                </a:solidFill>
                <a:latin typeface="Calibri" pitchFamily="34" charset="0"/>
                <a:ea typeface="Calibri" pitchFamily="34" charset="-122"/>
                <a:cs typeface="Calibri" pitchFamily="34" charset="-120"/>
              </a:rPr>
              <a:t>Sumber: Egyptian Archaeological Site Looting — Kaggle (Amr, 2023)</a:t>
            </a:r>
            <a:endParaRPr lang="en-US" sz="1000" dirty="0"/>
          </a:p>
        </p:txBody>
      </p:sp>
      <p:sp>
        <p:nvSpPr>
          <p:cNvPr id="18" name="Shape 16"/>
          <p:cNvSpPr/>
          <p:nvPr/>
        </p:nvSpPr>
        <p:spPr>
          <a:xfrm>
            <a:off x="457200" y="3127248"/>
            <a:ext cx="4023360" cy="1783080"/>
          </a:xfrm>
          <a:prstGeom prst="roundRect">
            <a:avLst>
              <a:gd name="adj" fmla="val 6154"/>
            </a:avLst>
          </a:prstGeom>
          <a:solidFill>
            <a:srgbClr val="1E3A5F"/>
          </a:solidFill>
          <a:ln/>
          <a:effectLst>
            <a:outerShdw sx="100000" sy="100000" kx="0" ky="0" algn="bl" rotWithShape="0" blurRad="101600" dist="38100" dir="2700000">
              <a:srgbClr val="000000">
                <a:alpha val="18000"/>
              </a:srgbClr>
            </a:outerShdw>
          </a:effectLst>
        </p:spPr>
      </p:sp>
      <p:sp>
        <p:nvSpPr>
          <p:cNvPr id="19" name="Shape 17"/>
          <p:cNvSpPr/>
          <p:nvPr/>
        </p:nvSpPr>
        <p:spPr>
          <a:xfrm>
            <a:off x="621792" y="3246120"/>
            <a:ext cx="1097280" cy="347472"/>
          </a:xfrm>
          <a:prstGeom prst="roundRect">
            <a:avLst>
              <a:gd name="adj" fmla="val 21053"/>
            </a:avLst>
          </a:prstGeom>
          <a:solidFill>
            <a:srgbClr val="E05050">
              <a:alpha val="80000"/>
            </a:srgbClr>
          </a:solidFill>
          <a:ln w="12700">
            <a:solidFill>
              <a:srgbClr val="E05050"/>
            </a:solidFill>
            <a:prstDash val="solid"/>
          </a:ln>
        </p:spPr>
      </p:sp>
      <p:sp>
        <p:nvSpPr>
          <p:cNvPr id="20" name="Text 18"/>
          <p:cNvSpPr/>
          <p:nvPr/>
        </p:nvSpPr>
        <p:spPr>
          <a:xfrm>
            <a:off x="621792" y="3246120"/>
            <a:ext cx="1097280" cy="347472"/>
          </a:xfrm>
          <a:prstGeom prst="rect">
            <a:avLst/>
          </a:prstGeom>
          <a:noFill/>
          <a:ln/>
        </p:spPr>
        <p:txBody>
          <a:bodyPr wrap="square" lIns="0" tIns="0" rIns="0" bIns="0" rtlCol="0" anchor="ctr"/>
          <a:lstStyle/>
          <a:p>
            <a:pPr algn="ctr" indent="0" marL="0">
              <a:buNone/>
            </a:pPr>
            <a:r>
              <a:rPr lang="en-US" sz="1000" b="1" dirty="0">
                <a:solidFill>
                  <a:srgbClr val="1A2E4A"/>
                </a:solidFill>
                <a:latin typeface="Calibri" pitchFamily="34" charset="0"/>
                <a:ea typeface="Calibri" pitchFamily="34" charset="-122"/>
                <a:cs typeface="Calibri" pitchFamily="34" charset="-120"/>
              </a:rPr>
              <a:t>Looted</a:t>
            </a:r>
            <a:endParaRPr lang="en-US" sz="1000" dirty="0"/>
          </a:p>
        </p:txBody>
      </p:sp>
      <p:sp>
        <p:nvSpPr>
          <p:cNvPr id="21" name="Text 19"/>
          <p:cNvSpPr/>
          <p:nvPr/>
        </p:nvSpPr>
        <p:spPr>
          <a:xfrm>
            <a:off x="1828800" y="3264408"/>
            <a:ext cx="2560320" cy="310896"/>
          </a:xfrm>
          <a:prstGeom prst="rect">
            <a:avLst/>
          </a:prstGeom>
          <a:noFill/>
          <a:ln/>
        </p:spPr>
        <p:txBody>
          <a:bodyPr wrap="square" lIns="0" tIns="0" rIns="0" bIns="0" rtlCol="0" anchor="ctr"/>
          <a:lstStyle/>
          <a:p>
            <a:pPr algn="l" indent="0" marL="0">
              <a:buNone/>
            </a:pPr>
            <a:r>
              <a:rPr lang="en-US" sz="1100" b="1" dirty="0">
                <a:solidFill>
                  <a:srgbClr val="C9A84C"/>
                </a:solidFill>
                <a:latin typeface="Cambria" pitchFamily="34" charset="0"/>
                <a:ea typeface="Cambria" pitchFamily="34" charset="-122"/>
                <a:cs typeface="Cambria" pitchFamily="34" charset="-120"/>
              </a:rPr>
              <a:t>176 citra</a:t>
            </a:r>
            <a:endParaRPr lang="en-US" sz="1100" dirty="0"/>
          </a:p>
        </p:txBody>
      </p:sp>
      <p:sp>
        <p:nvSpPr>
          <p:cNvPr id="22" name="Text 20"/>
          <p:cNvSpPr/>
          <p:nvPr/>
        </p:nvSpPr>
        <p:spPr>
          <a:xfrm>
            <a:off x="621792" y="3657600"/>
            <a:ext cx="3703320" cy="11430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Area situs arkeologi yang mengalami aktivitas penggalian ilegal. Ditandai dengan anomali lubang/kawah berwarna lebih gelap dari permukaan sekitarnya.</a:t>
            </a:r>
            <a:endParaRPr lang="en-US" sz="1000" dirty="0"/>
          </a:p>
        </p:txBody>
      </p:sp>
      <p:sp>
        <p:nvSpPr>
          <p:cNvPr id="23" name="Shape 21"/>
          <p:cNvSpPr/>
          <p:nvPr/>
        </p:nvSpPr>
        <p:spPr>
          <a:xfrm>
            <a:off x="4800600" y="3127248"/>
            <a:ext cx="4023360" cy="1783080"/>
          </a:xfrm>
          <a:prstGeom prst="roundRect">
            <a:avLst>
              <a:gd name="adj" fmla="val 6154"/>
            </a:avLst>
          </a:prstGeom>
          <a:solidFill>
            <a:srgbClr val="1E3A5F"/>
          </a:solidFill>
          <a:ln/>
          <a:effectLst>
            <a:outerShdw sx="100000" sy="100000" kx="0" ky="0" algn="bl" rotWithShape="0" blurRad="101600" dist="38100" dir="2700000">
              <a:srgbClr val="000000">
                <a:alpha val="18000"/>
              </a:srgbClr>
            </a:outerShdw>
          </a:effectLst>
        </p:spPr>
      </p:sp>
      <p:sp>
        <p:nvSpPr>
          <p:cNvPr id="24" name="Shape 22"/>
          <p:cNvSpPr/>
          <p:nvPr/>
        </p:nvSpPr>
        <p:spPr>
          <a:xfrm>
            <a:off x="4965192" y="3246120"/>
            <a:ext cx="1097280" cy="347472"/>
          </a:xfrm>
          <a:prstGeom prst="roundRect">
            <a:avLst>
              <a:gd name="adj" fmla="val 21053"/>
            </a:avLst>
          </a:prstGeom>
          <a:solidFill>
            <a:srgbClr val="3DAA6A">
              <a:alpha val="80000"/>
            </a:srgbClr>
          </a:solidFill>
          <a:ln w="12700">
            <a:solidFill>
              <a:srgbClr val="3DAA6A"/>
            </a:solidFill>
            <a:prstDash val="solid"/>
          </a:ln>
        </p:spPr>
      </p:sp>
      <p:sp>
        <p:nvSpPr>
          <p:cNvPr id="25" name="Text 23"/>
          <p:cNvSpPr/>
          <p:nvPr/>
        </p:nvSpPr>
        <p:spPr>
          <a:xfrm>
            <a:off x="4965192" y="3246120"/>
            <a:ext cx="1097280" cy="347472"/>
          </a:xfrm>
          <a:prstGeom prst="rect">
            <a:avLst/>
          </a:prstGeom>
          <a:noFill/>
          <a:ln/>
        </p:spPr>
        <p:txBody>
          <a:bodyPr wrap="square" lIns="0" tIns="0" rIns="0" bIns="0" rtlCol="0" anchor="ctr"/>
          <a:lstStyle/>
          <a:p>
            <a:pPr algn="ctr" indent="0" marL="0">
              <a:buNone/>
            </a:pPr>
            <a:r>
              <a:rPr lang="en-US" sz="1000" b="1" dirty="0">
                <a:solidFill>
                  <a:srgbClr val="1A2E4A"/>
                </a:solidFill>
                <a:latin typeface="Calibri" pitchFamily="34" charset="0"/>
                <a:ea typeface="Calibri" pitchFamily="34" charset="-122"/>
                <a:cs typeface="Calibri" pitchFamily="34" charset="-120"/>
              </a:rPr>
              <a:t>NotLooted</a:t>
            </a:r>
            <a:endParaRPr lang="en-US" sz="1000" dirty="0"/>
          </a:p>
        </p:txBody>
      </p:sp>
      <p:sp>
        <p:nvSpPr>
          <p:cNvPr id="26" name="Text 24"/>
          <p:cNvSpPr/>
          <p:nvPr/>
        </p:nvSpPr>
        <p:spPr>
          <a:xfrm>
            <a:off x="6172200" y="3264408"/>
            <a:ext cx="2560320" cy="310896"/>
          </a:xfrm>
          <a:prstGeom prst="rect">
            <a:avLst/>
          </a:prstGeom>
          <a:noFill/>
          <a:ln/>
        </p:spPr>
        <p:txBody>
          <a:bodyPr wrap="square" lIns="0" tIns="0" rIns="0" bIns="0" rtlCol="0" anchor="ctr"/>
          <a:lstStyle/>
          <a:p>
            <a:pPr algn="l" indent="0" marL="0">
              <a:buNone/>
            </a:pPr>
            <a:r>
              <a:rPr lang="en-US" sz="1100" b="1" dirty="0">
                <a:solidFill>
                  <a:srgbClr val="C9A84C"/>
                </a:solidFill>
                <a:latin typeface="Cambria" pitchFamily="34" charset="0"/>
                <a:ea typeface="Cambria" pitchFamily="34" charset="-122"/>
                <a:cs typeface="Cambria" pitchFamily="34" charset="-120"/>
              </a:rPr>
              <a:t>146 citra</a:t>
            </a:r>
            <a:endParaRPr lang="en-US" sz="1100" dirty="0"/>
          </a:p>
        </p:txBody>
      </p:sp>
      <p:sp>
        <p:nvSpPr>
          <p:cNvPr id="27" name="Text 25"/>
          <p:cNvSpPr/>
          <p:nvPr/>
        </p:nvSpPr>
        <p:spPr>
          <a:xfrm>
            <a:off x="4965192" y="3657600"/>
            <a:ext cx="3703320" cy="1143000"/>
          </a:xfrm>
          <a:prstGeom prst="rect">
            <a:avLst/>
          </a:prstGeom>
          <a:noFill/>
          <a:ln/>
        </p:spPr>
        <p:txBody>
          <a:bodyPr wrap="square" lIns="50800" tIns="50800" rIns="50800" bIns="50800" rtlCol="0" anchor="t"/>
          <a:lstStyle/>
          <a:p>
            <a:pPr algn="l" indent="0" marL="0">
              <a:buNone/>
            </a:pPr>
            <a:r>
              <a:rPr lang="en-US" sz="1000" dirty="0">
                <a:solidFill>
                  <a:srgbClr val="8AA3BE"/>
                </a:solidFill>
                <a:latin typeface="Calibri" pitchFamily="34" charset="0"/>
                <a:ea typeface="Calibri" pitchFamily="34" charset="-122"/>
                <a:cs typeface="Calibri" pitchFamily="34" charset="-120"/>
              </a:rPr>
              <a:t>Area lahan utuh atau pertanian tanpa aktivitas galian. Didominasi warna pasir gurun yang seragam dan monoton tanpa anomali struktural.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1A2E4A"/>
          </a:solidFill>
          <a:ln w="12700">
            <a:solidFill>
              <a:srgbClr val="1A2E4A"/>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02  METODOLOGI</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A2E4A"/>
                </a:solidFill>
                <a:latin typeface="Cambria" pitchFamily="34" charset="0"/>
                <a:ea typeface="Cambria" pitchFamily="34" charset="-122"/>
                <a:cs typeface="Cambria" pitchFamily="34" charset="-120"/>
              </a:rPr>
              <a:t>Alur Penelitian</a:t>
            </a:r>
            <a:endParaRPr lang="en-US" sz="2600" dirty="0"/>
          </a:p>
        </p:txBody>
      </p:sp>
      <p:sp>
        <p:nvSpPr>
          <p:cNvPr id="5" name="Shape 3"/>
          <p:cNvSpPr/>
          <p:nvPr/>
        </p:nvSpPr>
        <p:spPr>
          <a:xfrm>
            <a:off x="457200" y="1408176"/>
            <a:ext cx="548640" cy="548640"/>
          </a:xfrm>
          <a:prstGeom prst="ellipse">
            <a:avLst/>
          </a:prstGeom>
          <a:solidFill>
            <a:srgbClr val="1A2E4A"/>
          </a:solidFill>
          <a:ln w="12700">
            <a:solidFill>
              <a:srgbClr val="1A2E4A"/>
            </a:solidFill>
            <a:prstDash val="solid"/>
          </a:ln>
        </p:spPr>
      </p:sp>
      <p:sp>
        <p:nvSpPr>
          <p:cNvPr id="6" name="Text 4"/>
          <p:cNvSpPr/>
          <p:nvPr/>
        </p:nvSpPr>
        <p:spPr>
          <a:xfrm>
            <a:off x="457200" y="1408176"/>
            <a:ext cx="548640" cy="548640"/>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1</a:t>
            </a:r>
            <a:endParaRPr lang="en-US" sz="1400" dirty="0"/>
          </a:p>
        </p:txBody>
      </p:sp>
      <p:sp>
        <p:nvSpPr>
          <p:cNvPr id="7" name="Shape 5"/>
          <p:cNvSpPr/>
          <p:nvPr/>
        </p:nvSpPr>
        <p:spPr>
          <a:xfrm>
            <a:off x="731520" y="1956816"/>
            <a:ext cx="0" cy="109728"/>
          </a:xfrm>
          <a:prstGeom prst="line">
            <a:avLst/>
          </a:prstGeom>
          <a:noFill/>
          <a:ln w="19050">
            <a:solidFill>
              <a:srgbClr val="4A6080"/>
            </a:solidFill>
            <a:prstDash val="sysDot"/>
          </a:ln>
        </p:spPr>
      </p:sp>
      <p:sp>
        <p:nvSpPr>
          <p:cNvPr id="8" name="Shape 6"/>
          <p:cNvSpPr/>
          <p:nvPr/>
        </p:nvSpPr>
        <p:spPr>
          <a:xfrm>
            <a:off x="1143000" y="1353312"/>
            <a:ext cx="7955280" cy="621792"/>
          </a:xfrm>
          <a:prstGeom prst="roundRect">
            <a:avLst>
              <a:gd name="adj" fmla="val 14706"/>
            </a:avLst>
          </a:prstGeom>
          <a:solidFill>
            <a:srgbClr val="FFFFFF"/>
          </a:solidFill>
          <a:ln/>
          <a:effectLst>
            <a:outerShdw sx="100000" sy="100000" kx="0" ky="0" algn="bl" rotWithShape="0" blurRad="101600" dist="38100" dir="2700000">
              <a:srgbClr val="000000">
                <a:alpha val="18000"/>
              </a:srgbClr>
            </a:outerShdw>
          </a:effectLst>
        </p:spPr>
      </p:sp>
      <p:sp>
        <p:nvSpPr>
          <p:cNvPr id="9" name="Text 7"/>
          <p:cNvSpPr/>
          <p:nvPr/>
        </p:nvSpPr>
        <p:spPr>
          <a:xfrm>
            <a:off x="1234440" y="1389888"/>
            <a:ext cx="1645920" cy="548640"/>
          </a:xfrm>
          <a:prstGeom prst="rect">
            <a:avLst/>
          </a:prstGeom>
          <a:noFill/>
          <a:ln/>
        </p:spPr>
        <p:txBody>
          <a:bodyPr wrap="square" lIns="0" tIns="0" rIns="0" bIns="0" rtlCol="0" anchor="ctr"/>
          <a:lstStyle/>
          <a:p>
            <a:pPr algn="l" indent="0" marL="0">
              <a:buNone/>
            </a:pPr>
            <a:r>
              <a:rPr lang="en-US" sz="1200" b="1" dirty="0">
                <a:solidFill>
                  <a:srgbClr val="1A2E4A"/>
                </a:solidFill>
                <a:latin typeface="Cambria" pitchFamily="34" charset="0"/>
                <a:ea typeface="Cambria" pitchFamily="34" charset="-122"/>
                <a:cs typeface="Cambria" pitchFamily="34" charset="-120"/>
              </a:rPr>
              <a:t>Akuisisi &amp; EDA</a:t>
            </a:r>
            <a:endParaRPr lang="en-US" sz="1200" dirty="0"/>
          </a:p>
        </p:txBody>
      </p:sp>
      <p:sp>
        <p:nvSpPr>
          <p:cNvPr id="10" name="Shape 8"/>
          <p:cNvSpPr/>
          <p:nvPr/>
        </p:nvSpPr>
        <p:spPr>
          <a:xfrm>
            <a:off x="2926080" y="1463040"/>
            <a:ext cx="0" cy="402336"/>
          </a:xfrm>
          <a:prstGeom prst="line">
            <a:avLst/>
          </a:prstGeom>
          <a:noFill/>
          <a:ln w="12700">
            <a:solidFill>
              <a:srgbClr val="8AA3BE"/>
            </a:solidFill>
            <a:prstDash val="solid"/>
          </a:ln>
        </p:spPr>
      </p:sp>
      <p:sp>
        <p:nvSpPr>
          <p:cNvPr id="11" name="Text 9"/>
          <p:cNvSpPr/>
          <p:nvPr/>
        </p:nvSpPr>
        <p:spPr>
          <a:xfrm>
            <a:off x="3063240" y="1389888"/>
            <a:ext cx="5943600" cy="566928"/>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Dataset Kaggle → EDA: validasi keseimbangan kelas &amp; analisis karakteristik visual.</a:t>
            </a:r>
            <a:endParaRPr lang="en-US" sz="1100" dirty="0"/>
          </a:p>
        </p:txBody>
      </p:sp>
      <p:sp>
        <p:nvSpPr>
          <p:cNvPr id="12" name="Shape 10"/>
          <p:cNvSpPr/>
          <p:nvPr/>
        </p:nvSpPr>
        <p:spPr>
          <a:xfrm>
            <a:off x="457200" y="2121408"/>
            <a:ext cx="548640" cy="548640"/>
          </a:xfrm>
          <a:prstGeom prst="ellipse">
            <a:avLst/>
          </a:prstGeom>
          <a:solidFill>
            <a:srgbClr val="1A2E4A"/>
          </a:solidFill>
          <a:ln w="12700">
            <a:solidFill>
              <a:srgbClr val="1A2E4A"/>
            </a:solidFill>
            <a:prstDash val="solid"/>
          </a:ln>
        </p:spPr>
      </p:sp>
      <p:sp>
        <p:nvSpPr>
          <p:cNvPr id="13" name="Text 11"/>
          <p:cNvSpPr/>
          <p:nvPr/>
        </p:nvSpPr>
        <p:spPr>
          <a:xfrm>
            <a:off x="457200" y="2121408"/>
            <a:ext cx="548640" cy="548640"/>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2</a:t>
            </a:r>
            <a:endParaRPr lang="en-US" sz="1400" dirty="0"/>
          </a:p>
        </p:txBody>
      </p:sp>
      <p:sp>
        <p:nvSpPr>
          <p:cNvPr id="14" name="Shape 12"/>
          <p:cNvSpPr/>
          <p:nvPr/>
        </p:nvSpPr>
        <p:spPr>
          <a:xfrm>
            <a:off x="731520" y="2670048"/>
            <a:ext cx="0" cy="109728"/>
          </a:xfrm>
          <a:prstGeom prst="line">
            <a:avLst/>
          </a:prstGeom>
          <a:noFill/>
          <a:ln w="19050">
            <a:solidFill>
              <a:srgbClr val="4A6080"/>
            </a:solidFill>
            <a:prstDash val="sysDot"/>
          </a:ln>
        </p:spPr>
      </p:sp>
      <p:sp>
        <p:nvSpPr>
          <p:cNvPr id="15" name="Shape 13"/>
          <p:cNvSpPr/>
          <p:nvPr/>
        </p:nvSpPr>
        <p:spPr>
          <a:xfrm>
            <a:off x="1143000" y="2066544"/>
            <a:ext cx="7955280" cy="621792"/>
          </a:xfrm>
          <a:prstGeom prst="roundRect">
            <a:avLst>
              <a:gd name="adj" fmla="val 14706"/>
            </a:avLst>
          </a:prstGeom>
          <a:solidFill>
            <a:srgbClr val="FFFFFF"/>
          </a:solidFill>
          <a:ln/>
          <a:effectLst>
            <a:outerShdw sx="100000" sy="100000" kx="0" ky="0" algn="bl" rotWithShape="0" blurRad="101600" dist="38100" dir="2700000">
              <a:srgbClr val="000000">
                <a:alpha val="18000"/>
              </a:srgbClr>
            </a:outerShdw>
          </a:effectLst>
        </p:spPr>
      </p:sp>
      <p:sp>
        <p:nvSpPr>
          <p:cNvPr id="16" name="Text 14"/>
          <p:cNvSpPr/>
          <p:nvPr/>
        </p:nvSpPr>
        <p:spPr>
          <a:xfrm>
            <a:off x="1234440" y="2103120"/>
            <a:ext cx="1645920" cy="548640"/>
          </a:xfrm>
          <a:prstGeom prst="rect">
            <a:avLst/>
          </a:prstGeom>
          <a:noFill/>
          <a:ln/>
        </p:spPr>
        <p:txBody>
          <a:bodyPr wrap="square" lIns="0" tIns="0" rIns="0" bIns="0" rtlCol="0" anchor="ctr"/>
          <a:lstStyle/>
          <a:p>
            <a:pPr algn="l" indent="0" marL="0">
              <a:buNone/>
            </a:pPr>
            <a:r>
              <a:rPr lang="en-US" sz="1200" b="1" dirty="0">
                <a:solidFill>
                  <a:srgbClr val="1A2E4A"/>
                </a:solidFill>
                <a:latin typeface="Cambria" pitchFamily="34" charset="0"/>
                <a:ea typeface="Cambria" pitchFamily="34" charset="-122"/>
                <a:cs typeface="Cambria" pitchFamily="34" charset="-120"/>
              </a:rPr>
              <a:t>Pra-pemrosesan</a:t>
            </a:r>
            <a:endParaRPr lang="en-US" sz="1200" dirty="0"/>
          </a:p>
        </p:txBody>
      </p:sp>
      <p:sp>
        <p:nvSpPr>
          <p:cNvPr id="17" name="Shape 15"/>
          <p:cNvSpPr/>
          <p:nvPr/>
        </p:nvSpPr>
        <p:spPr>
          <a:xfrm>
            <a:off x="2926080" y="2176272"/>
            <a:ext cx="0" cy="402336"/>
          </a:xfrm>
          <a:prstGeom prst="line">
            <a:avLst/>
          </a:prstGeom>
          <a:noFill/>
          <a:ln w="12700">
            <a:solidFill>
              <a:srgbClr val="8AA3BE"/>
            </a:solidFill>
            <a:prstDash val="solid"/>
          </a:ln>
        </p:spPr>
      </p:sp>
      <p:sp>
        <p:nvSpPr>
          <p:cNvPr id="18" name="Text 16"/>
          <p:cNvSpPr/>
          <p:nvPr/>
        </p:nvSpPr>
        <p:spPr>
          <a:xfrm>
            <a:off x="3063240" y="2103120"/>
            <a:ext cx="5943600" cy="566928"/>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Resize ke 128×128 px → Stratified split 80:20 (257 train / 65 test).</a:t>
            </a:r>
            <a:endParaRPr lang="en-US" sz="1100" dirty="0"/>
          </a:p>
        </p:txBody>
      </p:sp>
      <p:sp>
        <p:nvSpPr>
          <p:cNvPr id="19" name="Shape 17"/>
          <p:cNvSpPr/>
          <p:nvPr/>
        </p:nvSpPr>
        <p:spPr>
          <a:xfrm>
            <a:off x="457200" y="2834640"/>
            <a:ext cx="548640" cy="548640"/>
          </a:xfrm>
          <a:prstGeom prst="ellipse">
            <a:avLst/>
          </a:prstGeom>
          <a:solidFill>
            <a:srgbClr val="1A2E4A"/>
          </a:solidFill>
          <a:ln w="12700">
            <a:solidFill>
              <a:srgbClr val="1A2E4A"/>
            </a:solidFill>
            <a:prstDash val="solid"/>
          </a:ln>
        </p:spPr>
      </p:sp>
      <p:sp>
        <p:nvSpPr>
          <p:cNvPr id="20" name="Text 18"/>
          <p:cNvSpPr/>
          <p:nvPr/>
        </p:nvSpPr>
        <p:spPr>
          <a:xfrm>
            <a:off x="457200" y="2834640"/>
            <a:ext cx="548640" cy="548640"/>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3</a:t>
            </a:r>
            <a:endParaRPr lang="en-US" sz="1400" dirty="0"/>
          </a:p>
        </p:txBody>
      </p:sp>
      <p:sp>
        <p:nvSpPr>
          <p:cNvPr id="21" name="Shape 19"/>
          <p:cNvSpPr/>
          <p:nvPr/>
        </p:nvSpPr>
        <p:spPr>
          <a:xfrm>
            <a:off x="731520" y="3383280"/>
            <a:ext cx="0" cy="109728"/>
          </a:xfrm>
          <a:prstGeom prst="line">
            <a:avLst/>
          </a:prstGeom>
          <a:noFill/>
          <a:ln w="19050">
            <a:solidFill>
              <a:srgbClr val="4A6080"/>
            </a:solidFill>
            <a:prstDash val="sysDot"/>
          </a:ln>
        </p:spPr>
      </p:sp>
      <p:sp>
        <p:nvSpPr>
          <p:cNvPr id="22" name="Shape 20"/>
          <p:cNvSpPr/>
          <p:nvPr/>
        </p:nvSpPr>
        <p:spPr>
          <a:xfrm>
            <a:off x="1143000" y="2779776"/>
            <a:ext cx="7955280" cy="621792"/>
          </a:xfrm>
          <a:prstGeom prst="roundRect">
            <a:avLst>
              <a:gd name="adj" fmla="val 14706"/>
            </a:avLst>
          </a:prstGeom>
          <a:solidFill>
            <a:srgbClr val="FFFFFF"/>
          </a:solidFill>
          <a:ln/>
          <a:effectLst>
            <a:outerShdw sx="100000" sy="100000" kx="0" ky="0" algn="bl" rotWithShape="0" blurRad="101600" dist="38100" dir="2700000">
              <a:srgbClr val="000000">
                <a:alpha val="18000"/>
              </a:srgbClr>
            </a:outerShdw>
          </a:effectLst>
        </p:spPr>
      </p:sp>
      <p:sp>
        <p:nvSpPr>
          <p:cNvPr id="23" name="Text 21"/>
          <p:cNvSpPr/>
          <p:nvPr/>
        </p:nvSpPr>
        <p:spPr>
          <a:xfrm>
            <a:off x="1234440" y="2816352"/>
            <a:ext cx="1645920" cy="548640"/>
          </a:xfrm>
          <a:prstGeom prst="rect">
            <a:avLst/>
          </a:prstGeom>
          <a:noFill/>
          <a:ln/>
        </p:spPr>
        <p:txBody>
          <a:bodyPr wrap="square" lIns="0" tIns="0" rIns="0" bIns="0" rtlCol="0" anchor="ctr"/>
          <a:lstStyle/>
          <a:p>
            <a:pPr algn="l" indent="0" marL="0">
              <a:buNone/>
            </a:pPr>
            <a:r>
              <a:rPr lang="en-US" sz="1200" b="1" dirty="0">
                <a:solidFill>
                  <a:srgbClr val="1A2E4A"/>
                </a:solidFill>
                <a:latin typeface="Cambria" pitchFamily="34" charset="0"/>
                <a:ea typeface="Cambria" pitchFamily="34" charset="-122"/>
                <a:cs typeface="Cambria" pitchFamily="34" charset="-120"/>
              </a:rPr>
              <a:t>Jalur SVM</a:t>
            </a:r>
            <a:endParaRPr lang="en-US" sz="1200" dirty="0"/>
          </a:p>
        </p:txBody>
      </p:sp>
      <p:sp>
        <p:nvSpPr>
          <p:cNvPr id="24" name="Shape 22"/>
          <p:cNvSpPr/>
          <p:nvPr/>
        </p:nvSpPr>
        <p:spPr>
          <a:xfrm>
            <a:off x="2926080" y="2889504"/>
            <a:ext cx="0" cy="402336"/>
          </a:xfrm>
          <a:prstGeom prst="line">
            <a:avLst/>
          </a:prstGeom>
          <a:noFill/>
          <a:ln w="12700">
            <a:solidFill>
              <a:srgbClr val="8AA3BE"/>
            </a:solidFill>
            <a:prstDash val="solid"/>
          </a:ln>
        </p:spPr>
      </p:sp>
      <p:sp>
        <p:nvSpPr>
          <p:cNvPr id="25" name="Text 23"/>
          <p:cNvSpPr/>
          <p:nvPr/>
        </p:nvSpPr>
        <p:spPr>
          <a:xfrm>
            <a:off x="3063240" y="2816352"/>
            <a:ext cx="5943600" cy="566928"/>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Grayscale+RGB → HOG + GLCM + Color Histogram → PCA (100 komponen) → SVM (RBF).</a:t>
            </a:r>
            <a:endParaRPr lang="en-US" sz="1100" dirty="0"/>
          </a:p>
        </p:txBody>
      </p:sp>
      <p:sp>
        <p:nvSpPr>
          <p:cNvPr id="26" name="Shape 24"/>
          <p:cNvSpPr/>
          <p:nvPr/>
        </p:nvSpPr>
        <p:spPr>
          <a:xfrm>
            <a:off x="457200" y="3547872"/>
            <a:ext cx="548640" cy="548640"/>
          </a:xfrm>
          <a:prstGeom prst="ellipse">
            <a:avLst/>
          </a:prstGeom>
          <a:solidFill>
            <a:srgbClr val="1A2E4A"/>
          </a:solidFill>
          <a:ln w="12700">
            <a:solidFill>
              <a:srgbClr val="1A2E4A"/>
            </a:solidFill>
            <a:prstDash val="solid"/>
          </a:ln>
        </p:spPr>
      </p:sp>
      <p:sp>
        <p:nvSpPr>
          <p:cNvPr id="27" name="Text 25"/>
          <p:cNvSpPr/>
          <p:nvPr/>
        </p:nvSpPr>
        <p:spPr>
          <a:xfrm>
            <a:off x="457200" y="3547872"/>
            <a:ext cx="548640" cy="548640"/>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4</a:t>
            </a:r>
            <a:endParaRPr lang="en-US" sz="1400" dirty="0"/>
          </a:p>
        </p:txBody>
      </p:sp>
      <p:sp>
        <p:nvSpPr>
          <p:cNvPr id="28" name="Shape 26"/>
          <p:cNvSpPr/>
          <p:nvPr/>
        </p:nvSpPr>
        <p:spPr>
          <a:xfrm>
            <a:off x="731520" y="4096512"/>
            <a:ext cx="0" cy="109728"/>
          </a:xfrm>
          <a:prstGeom prst="line">
            <a:avLst/>
          </a:prstGeom>
          <a:noFill/>
          <a:ln w="19050">
            <a:solidFill>
              <a:srgbClr val="4A6080"/>
            </a:solidFill>
            <a:prstDash val="sysDot"/>
          </a:ln>
        </p:spPr>
      </p:sp>
      <p:sp>
        <p:nvSpPr>
          <p:cNvPr id="29" name="Shape 27"/>
          <p:cNvSpPr/>
          <p:nvPr/>
        </p:nvSpPr>
        <p:spPr>
          <a:xfrm>
            <a:off x="1143000" y="3493008"/>
            <a:ext cx="7955280" cy="621792"/>
          </a:xfrm>
          <a:prstGeom prst="roundRect">
            <a:avLst>
              <a:gd name="adj" fmla="val 14706"/>
            </a:avLst>
          </a:prstGeom>
          <a:solidFill>
            <a:srgbClr val="FFFFFF"/>
          </a:solidFill>
          <a:ln/>
          <a:effectLst>
            <a:outerShdw sx="100000" sy="100000" kx="0" ky="0" algn="bl" rotWithShape="0" blurRad="101600" dist="38100" dir="2700000">
              <a:srgbClr val="000000">
                <a:alpha val="18000"/>
              </a:srgbClr>
            </a:outerShdw>
          </a:effectLst>
        </p:spPr>
      </p:sp>
      <p:sp>
        <p:nvSpPr>
          <p:cNvPr id="30" name="Text 28"/>
          <p:cNvSpPr/>
          <p:nvPr/>
        </p:nvSpPr>
        <p:spPr>
          <a:xfrm>
            <a:off x="1234440" y="3529584"/>
            <a:ext cx="1645920" cy="548640"/>
          </a:xfrm>
          <a:prstGeom prst="rect">
            <a:avLst/>
          </a:prstGeom>
          <a:noFill/>
          <a:ln/>
        </p:spPr>
        <p:txBody>
          <a:bodyPr wrap="square" lIns="0" tIns="0" rIns="0" bIns="0" rtlCol="0" anchor="ctr"/>
          <a:lstStyle/>
          <a:p>
            <a:pPr algn="l" indent="0" marL="0">
              <a:buNone/>
            </a:pPr>
            <a:r>
              <a:rPr lang="en-US" sz="1200" b="1" dirty="0">
                <a:solidFill>
                  <a:srgbClr val="1A2E4A"/>
                </a:solidFill>
                <a:latin typeface="Cambria" pitchFamily="34" charset="0"/>
                <a:ea typeface="Cambria" pitchFamily="34" charset="-122"/>
                <a:cs typeface="Cambria" pitchFamily="34" charset="-120"/>
              </a:rPr>
              <a:t>Jalur CNN</a:t>
            </a:r>
            <a:endParaRPr lang="en-US" sz="1200" dirty="0"/>
          </a:p>
        </p:txBody>
      </p:sp>
      <p:sp>
        <p:nvSpPr>
          <p:cNvPr id="31" name="Shape 29"/>
          <p:cNvSpPr/>
          <p:nvPr/>
        </p:nvSpPr>
        <p:spPr>
          <a:xfrm>
            <a:off x="2926080" y="3602736"/>
            <a:ext cx="0" cy="402336"/>
          </a:xfrm>
          <a:prstGeom prst="line">
            <a:avLst/>
          </a:prstGeom>
          <a:noFill/>
          <a:ln w="12700">
            <a:solidFill>
              <a:srgbClr val="8AA3BE"/>
            </a:solidFill>
            <a:prstDash val="solid"/>
          </a:ln>
        </p:spPr>
      </p:sp>
      <p:sp>
        <p:nvSpPr>
          <p:cNvPr id="32" name="Text 30"/>
          <p:cNvSpPr/>
          <p:nvPr/>
        </p:nvSpPr>
        <p:spPr>
          <a:xfrm>
            <a:off x="3063240" y="3529584"/>
            <a:ext cx="5943600" cy="566928"/>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RGB normalize [0,1] → Conv2D + MaxPooling (hierarkis) → Dropout(0.5) → Dense Sigmoid.</a:t>
            </a:r>
            <a:endParaRPr lang="en-US" sz="1100" dirty="0"/>
          </a:p>
        </p:txBody>
      </p:sp>
      <p:sp>
        <p:nvSpPr>
          <p:cNvPr id="33" name="Shape 31"/>
          <p:cNvSpPr/>
          <p:nvPr/>
        </p:nvSpPr>
        <p:spPr>
          <a:xfrm>
            <a:off x="457200" y="4261104"/>
            <a:ext cx="548640" cy="548640"/>
          </a:xfrm>
          <a:prstGeom prst="ellipse">
            <a:avLst/>
          </a:prstGeom>
          <a:solidFill>
            <a:srgbClr val="1A2E4A"/>
          </a:solidFill>
          <a:ln w="12700">
            <a:solidFill>
              <a:srgbClr val="1A2E4A"/>
            </a:solidFill>
            <a:prstDash val="solid"/>
          </a:ln>
        </p:spPr>
      </p:sp>
      <p:sp>
        <p:nvSpPr>
          <p:cNvPr id="34" name="Text 32"/>
          <p:cNvSpPr/>
          <p:nvPr/>
        </p:nvSpPr>
        <p:spPr>
          <a:xfrm>
            <a:off x="457200" y="4261104"/>
            <a:ext cx="548640" cy="548640"/>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5</a:t>
            </a:r>
            <a:endParaRPr lang="en-US" sz="1400" dirty="0"/>
          </a:p>
        </p:txBody>
      </p:sp>
      <p:sp>
        <p:nvSpPr>
          <p:cNvPr id="35" name="Shape 33"/>
          <p:cNvSpPr/>
          <p:nvPr/>
        </p:nvSpPr>
        <p:spPr>
          <a:xfrm>
            <a:off x="1143000" y="4206240"/>
            <a:ext cx="7955280" cy="621792"/>
          </a:xfrm>
          <a:prstGeom prst="roundRect">
            <a:avLst>
              <a:gd name="adj" fmla="val 14706"/>
            </a:avLst>
          </a:prstGeom>
          <a:solidFill>
            <a:srgbClr val="FFFFFF"/>
          </a:solidFill>
          <a:ln/>
          <a:effectLst>
            <a:outerShdw sx="100000" sy="100000" kx="0" ky="0" algn="bl" rotWithShape="0" blurRad="101600" dist="38100" dir="2700000">
              <a:srgbClr val="000000">
                <a:alpha val="18000"/>
              </a:srgbClr>
            </a:outerShdw>
          </a:effectLst>
        </p:spPr>
      </p:sp>
      <p:sp>
        <p:nvSpPr>
          <p:cNvPr id="36" name="Text 34"/>
          <p:cNvSpPr/>
          <p:nvPr/>
        </p:nvSpPr>
        <p:spPr>
          <a:xfrm>
            <a:off x="1234440" y="4242816"/>
            <a:ext cx="1645920" cy="548640"/>
          </a:xfrm>
          <a:prstGeom prst="rect">
            <a:avLst/>
          </a:prstGeom>
          <a:noFill/>
          <a:ln/>
        </p:spPr>
        <p:txBody>
          <a:bodyPr wrap="square" lIns="0" tIns="0" rIns="0" bIns="0" rtlCol="0" anchor="ctr"/>
          <a:lstStyle/>
          <a:p>
            <a:pPr algn="l" indent="0" marL="0">
              <a:buNone/>
            </a:pPr>
            <a:r>
              <a:rPr lang="en-US" sz="1200" b="1" dirty="0">
                <a:solidFill>
                  <a:srgbClr val="1A2E4A"/>
                </a:solidFill>
                <a:latin typeface="Cambria" pitchFamily="34" charset="0"/>
                <a:ea typeface="Cambria" pitchFamily="34" charset="-122"/>
                <a:cs typeface="Cambria" pitchFamily="34" charset="-120"/>
              </a:rPr>
              <a:t>Evaluasi &amp; Komparasi</a:t>
            </a:r>
            <a:endParaRPr lang="en-US" sz="1200" dirty="0"/>
          </a:p>
        </p:txBody>
      </p:sp>
      <p:sp>
        <p:nvSpPr>
          <p:cNvPr id="37" name="Shape 35"/>
          <p:cNvSpPr/>
          <p:nvPr/>
        </p:nvSpPr>
        <p:spPr>
          <a:xfrm>
            <a:off x="2926080" y="4315968"/>
            <a:ext cx="0" cy="402336"/>
          </a:xfrm>
          <a:prstGeom prst="line">
            <a:avLst/>
          </a:prstGeom>
          <a:noFill/>
          <a:ln w="12700">
            <a:solidFill>
              <a:srgbClr val="8AA3BE"/>
            </a:solidFill>
            <a:prstDash val="solid"/>
          </a:ln>
        </p:spPr>
      </p:sp>
      <p:sp>
        <p:nvSpPr>
          <p:cNvPr id="38" name="Text 36"/>
          <p:cNvSpPr/>
          <p:nvPr/>
        </p:nvSpPr>
        <p:spPr>
          <a:xfrm>
            <a:off x="3063240" y="4242816"/>
            <a:ext cx="5943600" cy="566928"/>
          </a:xfrm>
          <a:prstGeom prst="rect">
            <a:avLst/>
          </a:prstGeom>
          <a:noFill/>
          <a:ln/>
        </p:spPr>
        <p:txBody>
          <a:bodyPr wrap="square" lIns="0" tIns="0" rIns="0" bIns="0" rtlCol="0" anchor="ctr"/>
          <a:lstStyle/>
          <a:p>
            <a:pPr algn="l" indent="0" marL="0">
              <a:buNone/>
            </a:pPr>
            <a:r>
              <a:rPr lang="en-US" sz="1100" dirty="0">
                <a:solidFill>
                  <a:srgbClr val="4A6080"/>
                </a:solidFill>
                <a:latin typeface="Calibri" pitchFamily="34" charset="0"/>
                <a:ea typeface="Calibri" pitchFamily="34" charset="-122"/>
                <a:cs typeface="Calibri" pitchFamily="34" charset="-120"/>
              </a:rPr>
              <a:t>Confusion Matrix, Accuracy, Precision, Recall, F1-Score pada 65 data uji.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C9A84C"/>
          </a:solidFill>
          <a:ln w="12700">
            <a:solidFill>
              <a:srgbClr val="C9A84C"/>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1A2E4A"/>
                </a:solidFill>
                <a:latin typeface="Calibri" pitchFamily="34" charset="0"/>
                <a:ea typeface="Calibri" pitchFamily="34" charset="-122"/>
                <a:cs typeface="Calibri" pitchFamily="34" charset="-120"/>
              </a:rPr>
              <a:t>02  METODOLOGI</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Ekstraksi Fitur (Jalur SVM)</a:t>
            </a:r>
            <a:endParaRPr lang="en-US" sz="2600" dirty="0"/>
          </a:p>
        </p:txBody>
      </p:sp>
      <p:sp>
        <p:nvSpPr>
          <p:cNvPr id="5" name="Shape 3"/>
          <p:cNvSpPr/>
          <p:nvPr/>
        </p:nvSpPr>
        <p:spPr>
          <a:xfrm>
            <a:off x="457200" y="1389888"/>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6" name="Text 4"/>
          <p:cNvSpPr/>
          <p:nvPr/>
        </p:nvSpPr>
        <p:spPr>
          <a:xfrm>
            <a:off x="594360" y="148132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325880" y="1481328"/>
            <a:ext cx="1280160" cy="384048"/>
          </a:xfrm>
          <a:prstGeom prst="rect">
            <a:avLst/>
          </a:prstGeom>
          <a:noFill/>
          <a:ln/>
        </p:spPr>
        <p:txBody>
          <a:bodyPr wrap="square" lIns="0" tIns="0" rIns="0" bIns="0" rtlCol="0" anchor="t"/>
          <a:lstStyle/>
          <a:p>
            <a:pPr algn="l" indent="0" marL="0">
              <a:buNone/>
            </a:pPr>
            <a:r>
              <a:rPr lang="en-US" sz="1600" b="1" dirty="0">
                <a:solidFill>
                  <a:srgbClr val="C9A84C"/>
                </a:solidFill>
                <a:latin typeface="Cambria" pitchFamily="34" charset="0"/>
                <a:ea typeface="Cambria" pitchFamily="34" charset="-122"/>
                <a:cs typeface="Cambria" pitchFamily="34" charset="-120"/>
              </a:rPr>
              <a:t>HOG</a:t>
            </a:r>
            <a:endParaRPr lang="en-US" sz="1600" dirty="0"/>
          </a:p>
        </p:txBody>
      </p:sp>
      <p:sp>
        <p:nvSpPr>
          <p:cNvPr id="8" name="Text 6"/>
          <p:cNvSpPr/>
          <p:nvPr/>
        </p:nvSpPr>
        <p:spPr>
          <a:xfrm>
            <a:off x="1325880" y="1865376"/>
            <a:ext cx="2286000" cy="548640"/>
          </a:xfrm>
          <a:prstGeom prst="rect">
            <a:avLst/>
          </a:prstGeom>
          <a:noFill/>
          <a:ln/>
        </p:spPr>
        <p:txBody>
          <a:bodyPr wrap="square" lIns="0" tIns="0" rIns="0" bIns="0" rtlCol="0" anchor="t"/>
          <a:lstStyle/>
          <a:p>
            <a:pPr algn="l" indent="0" marL="0">
              <a:buNone/>
            </a:pPr>
            <a:r>
              <a:rPr lang="en-US" sz="900" i="1" dirty="0">
                <a:solidFill>
                  <a:srgbClr val="8AA3BE"/>
                </a:solidFill>
                <a:latin typeface="Calibri" pitchFamily="34" charset="0"/>
                <a:ea typeface="Calibri" pitchFamily="34" charset="-122"/>
                <a:cs typeface="Calibri" pitchFamily="34" charset="-120"/>
              </a:rPr>
              <a:t>Histogram of Oriented Gradients</a:t>
            </a:r>
            <a:endParaRPr lang="en-US" sz="900" dirty="0"/>
          </a:p>
        </p:txBody>
      </p:sp>
      <p:sp>
        <p:nvSpPr>
          <p:cNvPr id="9" name="Text 7"/>
          <p:cNvSpPr/>
          <p:nvPr/>
        </p:nvSpPr>
        <p:spPr>
          <a:xfrm>
            <a:off x="3749040" y="1481328"/>
            <a:ext cx="4754880" cy="914400"/>
          </a:xfrm>
          <a:prstGeom prst="rect">
            <a:avLst/>
          </a:prstGeom>
          <a:noFill/>
          <a:ln/>
        </p:spPr>
        <p:txBody>
          <a:bodyPr wrap="square" lIns="50800" tIns="50800" rIns="50800" bIns="5080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Memetakan struktur geometris dan pola tepi (edge) pada citra satelit. Mendeteksi kontur melingkar, tepi cekungan, atau batas area tidak beraturan yang membentuk karakteristik fisik lubang galian.</a:t>
            </a:r>
            <a:endParaRPr lang="en-US" sz="1050" dirty="0"/>
          </a:p>
        </p:txBody>
      </p:sp>
      <p:sp>
        <p:nvSpPr>
          <p:cNvPr id="10" name="Shape 8"/>
          <p:cNvSpPr/>
          <p:nvPr/>
        </p:nvSpPr>
        <p:spPr>
          <a:xfrm>
            <a:off x="457200" y="2624328"/>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11" name="Text 9"/>
          <p:cNvSpPr/>
          <p:nvPr/>
        </p:nvSpPr>
        <p:spPr>
          <a:xfrm>
            <a:off x="594360" y="271576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1325880" y="2715768"/>
            <a:ext cx="1280160" cy="384048"/>
          </a:xfrm>
          <a:prstGeom prst="rect">
            <a:avLst/>
          </a:prstGeom>
          <a:noFill/>
          <a:ln/>
        </p:spPr>
        <p:txBody>
          <a:bodyPr wrap="square" lIns="0" tIns="0" rIns="0" bIns="0" rtlCol="0" anchor="t"/>
          <a:lstStyle/>
          <a:p>
            <a:pPr algn="l" indent="0" marL="0">
              <a:buNone/>
            </a:pPr>
            <a:r>
              <a:rPr lang="en-US" sz="1600" b="1" dirty="0">
                <a:solidFill>
                  <a:srgbClr val="C9A84C"/>
                </a:solidFill>
                <a:latin typeface="Cambria" pitchFamily="34" charset="0"/>
                <a:ea typeface="Cambria" pitchFamily="34" charset="-122"/>
                <a:cs typeface="Cambria" pitchFamily="34" charset="-120"/>
              </a:rPr>
              <a:t>GLCM</a:t>
            </a:r>
            <a:endParaRPr lang="en-US" sz="1600" dirty="0"/>
          </a:p>
        </p:txBody>
      </p:sp>
      <p:sp>
        <p:nvSpPr>
          <p:cNvPr id="13" name="Text 11"/>
          <p:cNvSpPr/>
          <p:nvPr/>
        </p:nvSpPr>
        <p:spPr>
          <a:xfrm>
            <a:off x="1325880" y="3099816"/>
            <a:ext cx="2286000" cy="548640"/>
          </a:xfrm>
          <a:prstGeom prst="rect">
            <a:avLst/>
          </a:prstGeom>
          <a:noFill/>
          <a:ln/>
        </p:spPr>
        <p:txBody>
          <a:bodyPr wrap="square" lIns="0" tIns="0" rIns="0" bIns="0" rtlCol="0" anchor="t"/>
          <a:lstStyle/>
          <a:p>
            <a:pPr algn="l" indent="0" marL="0">
              <a:buNone/>
            </a:pPr>
            <a:r>
              <a:rPr lang="en-US" sz="900" i="1" dirty="0">
                <a:solidFill>
                  <a:srgbClr val="8AA3BE"/>
                </a:solidFill>
                <a:latin typeface="Calibri" pitchFamily="34" charset="0"/>
                <a:ea typeface="Calibri" pitchFamily="34" charset="-122"/>
                <a:cs typeface="Calibri" pitchFamily="34" charset="-120"/>
              </a:rPr>
              <a:t>Gray-Level Co-occurrence Matrix</a:t>
            </a:r>
            <a:endParaRPr lang="en-US" sz="900" dirty="0"/>
          </a:p>
        </p:txBody>
      </p:sp>
      <p:sp>
        <p:nvSpPr>
          <p:cNvPr id="14" name="Text 12"/>
          <p:cNvSpPr/>
          <p:nvPr/>
        </p:nvSpPr>
        <p:spPr>
          <a:xfrm>
            <a:off x="3749040" y="2715768"/>
            <a:ext cx="4754880" cy="914400"/>
          </a:xfrm>
          <a:prstGeom prst="rect">
            <a:avLst/>
          </a:prstGeom>
          <a:noFill/>
          <a:ln/>
        </p:spPr>
        <p:txBody>
          <a:bodyPr wrap="square" lIns="50800" tIns="50800" rIns="50800" bIns="5080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Menganalisis karakteristik tekstur dan kekasaran permukaan secara statistik (Contrast, Homogeneity, Energy). Mendiskriminasi pasir gurun halus (homogenitas tinggi) vs tanah kerukan kasar (kontras tinggi).</a:t>
            </a:r>
            <a:endParaRPr lang="en-US" sz="1050" dirty="0"/>
          </a:p>
        </p:txBody>
      </p:sp>
      <p:sp>
        <p:nvSpPr>
          <p:cNvPr id="15" name="Shape 13"/>
          <p:cNvSpPr/>
          <p:nvPr/>
        </p:nvSpPr>
        <p:spPr>
          <a:xfrm>
            <a:off x="457200" y="3858768"/>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16" name="Text 14"/>
          <p:cNvSpPr/>
          <p:nvPr/>
        </p:nvSpPr>
        <p:spPr>
          <a:xfrm>
            <a:off x="594360" y="395020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1325880" y="3950208"/>
            <a:ext cx="1280160" cy="384048"/>
          </a:xfrm>
          <a:prstGeom prst="rect">
            <a:avLst/>
          </a:prstGeom>
          <a:noFill/>
          <a:ln/>
        </p:spPr>
        <p:txBody>
          <a:bodyPr wrap="square" lIns="0" tIns="0" rIns="0" bIns="0" rtlCol="0" anchor="t"/>
          <a:lstStyle/>
          <a:p>
            <a:pPr algn="l" indent="0" marL="0">
              <a:buNone/>
            </a:pPr>
            <a:r>
              <a:rPr lang="en-US" sz="1600" b="1" dirty="0">
                <a:solidFill>
                  <a:srgbClr val="C9A84C"/>
                </a:solidFill>
                <a:latin typeface="Cambria" pitchFamily="34" charset="0"/>
                <a:ea typeface="Cambria" pitchFamily="34" charset="-122"/>
                <a:cs typeface="Cambria" pitchFamily="34" charset="-120"/>
              </a:rPr>
              <a:t>Color Hist.</a:t>
            </a:r>
            <a:endParaRPr lang="en-US" sz="1600" dirty="0"/>
          </a:p>
        </p:txBody>
      </p:sp>
      <p:sp>
        <p:nvSpPr>
          <p:cNvPr id="18" name="Text 16"/>
          <p:cNvSpPr/>
          <p:nvPr/>
        </p:nvSpPr>
        <p:spPr>
          <a:xfrm>
            <a:off x="1325880" y="4334256"/>
            <a:ext cx="2286000" cy="548640"/>
          </a:xfrm>
          <a:prstGeom prst="rect">
            <a:avLst/>
          </a:prstGeom>
          <a:noFill/>
          <a:ln/>
        </p:spPr>
        <p:txBody>
          <a:bodyPr wrap="square" lIns="0" tIns="0" rIns="0" bIns="0" rtlCol="0" anchor="t"/>
          <a:lstStyle/>
          <a:p>
            <a:pPr algn="l" indent="0" marL="0">
              <a:buNone/>
            </a:pPr>
            <a:r>
              <a:rPr lang="en-US" sz="900" i="1" dirty="0">
                <a:solidFill>
                  <a:srgbClr val="8AA3BE"/>
                </a:solidFill>
                <a:latin typeface="Calibri" pitchFamily="34" charset="0"/>
                <a:ea typeface="Calibri" pitchFamily="34" charset="-122"/>
                <a:cs typeface="Calibri" pitchFamily="34" charset="-120"/>
              </a:rPr>
              <a:t>Color Histogram RGB</a:t>
            </a:r>
            <a:endParaRPr lang="en-US" sz="900" dirty="0"/>
          </a:p>
        </p:txBody>
      </p:sp>
      <p:sp>
        <p:nvSpPr>
          <p:cNvPr id="19" name="Text 17"/>
          <p:cNvSpPr/>
          <p:nvPr/>
        </p:nvSpPr>
        <p:spPr>
          <a:xfrm>
            <a:off x="3749040" y="3950208"/>
            <a:ext cx="4754880" cy="914400"/>
          </a:xfrm>
          <a:prstGeom prst="rect">
            <a:avLst/>
          </a:prstGeom>
          <a:noFill/>
          <a:ln/>
        </p:spPr>
        <p:txBody>
          <a:bodyPr wrap="square" lIns="50800" tIns="50800" rIns="50800" bIns="5080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Merangkum distribusi spektrum warna RGB (0–255). Mendeteksi bayangan pekat di dasar lubang galian dan perbedaan rona kelembapan dari subsoil yang tersingkap.</a:t>
            </a:r>
            <a:endParaRPr lang="en-US" sz="1050" dirty="0"/>
          </a:p>
        </p:txBody>
      </p:sp>
      <p:sp>
        <p:nvSpPr>
          <p:cNvPr id="20" name="Shape 18"/>
          <p:cNvSpPr/>
          <p:nvPr/>
        </p:nvSpPr>
        <p:spPr>
          <a:xfrm>
            <a:off x="457200" y="4636008"/>
            <a:ext cx="8229600" cy="338328"/>
          </a:xfrm>
          <a:prstGeom prst="roundRect">
            <a:avLst>
              <a:gd name="adj" fmla="val 21622"/>
            </a:avLst>
          </a:prstGeom>
          <a:solidFill>
            <a:srgbClr val="C9A84C">
              <a:alpha val="20000"/>
            </a:srgbClr>
          </a:solidFill>
          <a:ln w="12700">
            <a:solidFill>
              <a:srgbClr val="C9A84C"/>
            </a:solidFill>
            <a:prstDash val="solid"/>
          </a:ln>
        </p:spPr>
      </p:sp>
      <p:sp>
        <p:nvSpPr>
          <p:cNvPr id="21" name="Text 19"/>
          <p:cNvSpPr/>
          <p:nvPr/>
        </p:nvSpPr>
        <p:spPr>
          <a:xfrm>
            <a:off x="457200" y="4636008"/>
            <a:ext cx="8229600" cy="338328"/>
          </a:xfrm>
          <a:prstGeom prst="rect">
            <a:avLst/>
          </a:prstGeom>
          <a:noFill/>
          <a:ln/>
        </p:spPr>
        <p:txBody>
          <a:bodyPr wrap="square" lIns="76200" tIns="76200" rIns="76200" bIns="76200" rtlCol="0" anchor="ctr"/>
          <a:lstStyle/>
          <a:p>
            <a:pPr algn="ctr" indent="0" marL="0">
              <a:buNone/>
            </a:pPr>
            <a:r>
              <a:rPr lang="en-US" sz="1000" b="1" dirty="0">
                <a:solidFill>
                  <a:srgbClr val="F0D080"/>
                </a:solidFill>
                <a:latin typeface="Calibri" pitchFamily="34" charset="0"/>
                <a:ea typeface="Calibri" pitchFamily="34" charset="-122"/>
                <a:cs typeface="Calibri" pitchFamily="34" charset="-120"/>
              </a:rPr>
              <a:t>→  Ketiga fitur digabung (&gt;8.000 dimensi) → Reduksi PCA menjadi 100 komponen utama → Klasifikasi SVM (RBF Kernel)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1A2E4A"/>
          </a:solidFill>
          <a:ln w="12700">
            <a:solidFill>
              <a:srgbClr val="1A2E4A"/>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02  METODOLOGI</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A2E4A"/>
                </a:solidFill>
                <a:latin typeface="Cambria" pitchFamily="34" charset="0"/>
                <a:ea typeface="Cambria" pitchFamily="34" charset="-122"/>
                <a:cs typeface="Cambria" pitchFamily="34" charset="-120"/>
              </a:rPr>
              <a:t>Arsitektur CNN (Jalur Deep Learning)</a:t>
            </a:r>
            <a:endParaRPr lang="en-US" sz="2600" dirty="0"/>
          </a:p>
        </p:txBody>
      </p:sp>
      <p:sp>
        <p:nvSpPr>
          <p:cNvPr id="5" name="Shape 3"/>
          <p:cNvSpPr/>
          <p:nvPr/>
        </p:nvSpPr>
        <p:spPr>
          <a:xfrm>
            <a:off x="320040" y="1463040"/>
            <a:ext cx="1078992" cy="1005840"/>
          </a:xfrm>
          <a:prstGeom prst="roundRect">
            <a:avLst>
              <a:gd name="adj" fmla="val 9091"/>
            </a:avLst>
          </a:prstGeom>
          <a:solidFill>
            <a:srgbClr val="1A2E4A"/>
          </a:solidFill>
          <a:ln/>
          <a:effectLst>
            <a:outerShdw sx="100000" sy="100000" kx="0" ky="0" algn="bl" rotWithShape="0" blurRad="101600" dist="38100" dir="2700000">
              <a:srgbClr val="000000">
                <a:alpha val="18000"/>
              </a:srgbClr>
            </a:outerShdw>
          </a:effectLst>
        </p:spPr>
      </p:sp>
      <p:sp>
        <p:nvSpPr>
          <p:cNvPr id="6" name="Text 4"/>
          <p:cNvSpPr/>
          <p:nvPr/>
        </p:nvSpPr>
        <p:spPr>
          <a:xfrm>
            <a:off x="320040"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Input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RGB 128×128</a:t>
            </a:r>
            <a:endParaRPr lang="en-US" sz="950" dirty="0"/>
          </a:p>
        </p:txBody>
      </p:sp>
      <p:sp>
        <p:nvSpPr>
          <p:cNvPr id="7" name="Shape 5"/>
          <p:cNvSpPr/>
          <p:nvPr/>
        </p:nvSpPr>
        <p:spPr>
          <a:xfrm>
            <a:off x="1399032" y="1965960"/>
            <a:ext cx="182880" cy="0"/>
          </a:xfrm>
          <a:prstGeom prst="line">
            <a:avLst/>
          </a:prstGeom>
          <a:noFill/>
          <a:ln w="19050">
            <a:solidFill>
              <a:srgbClr val="4A6080"/>
            </a:solidFill>
            <a:prstDash val="solid"/>
          </a:ln>
        </p:spPr>
      </p:sp>
      <p:sp>
        <p:nvSpPr>
          <p:cNvPr id="8" name="Shape 6"/>
          <p:cNvSpPr/>
          <p:nvPr/>
        </p:nvSpPr>
        <p:spPr>
          <a:xfrm>
            <a:off x="1581912" y="1463040"/>
            <a:ext cx="1078992" cy="1005840"/>
          </a:xfrm>
          <a:prstGeom prst="roundRect">
            <a:avLst>
              <a:gd name="adj" fmla="val 9091"/>
            </a:avLst>
          </a:prstGeom>
          <a:solidFill>
            <a:srgbClr val="4A6080"/>
          </a:solidFill>
          <a:ln/>
          <a:effectLst>
            <a:outerShdw sx="100000" sy="100000" kx="0" ky="0" algn="bl" rotWithShape="0" blurRad="101600" dist="38100" dir="2700000">
              <a:srgbClr val="000000">
                <a:alpha val="18000"/>
              </a:srgbClr>
            </a:outerShdw>
          </a:effectLst>
        </p:spPr>
      </p:sp>
      <p:sp>
        <p:nvSpPr>
          <p:cNvPr id="9" name="Text 7"/>
          <p:cNvSpPr/>
          <p:nvPr/>
        </p:nvSpPr>
        <p:spPr>
          <a:xfrm>
            <a:off x="1581912"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Conv2D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MaxPool</a:t>
            </a:r>
            <a:endParaRPr lang="en-US" sz="950" dirty="0"/>
          </a:p>
        </p:txBody>
      </p:sp>
      <p:sp>
        <p:nvSpPr>
          <p:cNvPr id="10" name="Shape 8"/>
          <p:cNvSpPr/>
          <p:nvPr/>
        </p:nvSpPr>
        <p:spPr>
          <a:xfrm>
            <a:off x="2660904" y="1965960"/>
            <a:ext cx="182880" cy="0"/>
          </a:xfrm>
          <a:prstGeom prst="line">
            <a:avLst/>
          </a:prstGeom>
          <a:noFill/>
          <a:ln w="19050">
            <a:solidFill>
              <a:srgbClr val="4A6080"/>
            </a:solidFill>
            <a:prstDash val="solid"/>
          </a:ln>
        </p:spPr>
      </p:sp>
      <p:sp>
        <p:nvSpPr>
          <p:cNvPr id="11" name="Shape 9"/>
          <p:cNvSpPr/>
          <p:nvPr/>
        </p:nvSpPr>
        <p:spPr>
          <a:xfrm>
            <a:off x="2843784" y="1463040"/>
            <a:ext cx="1078992" cy="1005840"/>
          </a:xfrm>
          <a:prstGeom prst="roundRect">
            <a:avLst>
              <a:gd name="adj" fmla="val 9091"/>
            </a:avLst>
          </a:prstGeom>
          <a:solidFill>
            <a:srgbClr val="4A6080"/>
          </a:solidFill>
          <a:ln/>
          <a:effectLst>
            <a:outerShdw sx="100000" sy="100000" kx="0" ky="0" algn="bl" rotWithShape="0" blurRad="101600" dist="38100" dir="2700000">
              <a:srgbClr val="000000">
                <a:alpha val="18000"/>
              </a:srgbClr>
            </a:outerShdw>
          </a:effectLst>
        </p:spPr>
      </p:sp>
      <p:sp>
        <p:nvSpPr>
          <p:cNvPr id="12" name="Text 10"/>
          <p:cNvSpPr/>
          <p:nvPr/>
        </p:nvSpPr>
        <p:spPr>
          <a:xfrm>
            <a:off x="2843784"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Conv2D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MaxPool</a:t>
            </a:r>
            <a:endParaRPr lang="en-US" sz="950" dirty="0"/>
          </a:p>
        </p:txBody>
      </p:sp>
      <p:sp>
        <p:nvSpPr>
          <p:cNvPr id="13" name="Shape 11"/>
          <p:cNvSpPr/>
          <p:nvPr/>
        </p:nvSpPr>
        <p:spPr>
          <a:xfrm>
            <a:off x="3922776" y="1965960"/>
            <a:ext cx="182880" cy="0"/>
          </a:xfrm>
          <a:prstGeom prst="line">
            <a:avLst/>
          </a:prstGeom>
          <a:noFill/>
          <a:ln w="19050">
            <a:solidFill>
              <a:srgbClr val="4A6080"/>
            </a:solidFill>
            <a:prstDash val="solid"/>
          </a:ln>
        </p:spPr>
      </p:sp>
      <p:sp>
        <p:nvSpPr>
          <p:cNvPr id="14" name="Shape 12"/>
          <p:cNvSpPr/>
          <p:nvPr/>
        </p:nvSpPr>
        <p:spPr>
          <a:xfrm>
            <a:off x="4105656" y="1463040"/>
            <a:ext cx="1078992" cy="1005840"/>
          </a:xfrm>
          <a:prstGeom prst="roundRect">
            <a:avLst>
              <a:gd name="adj" fmla="val 9091"/>
            </a:avLst>
          </a:prstGeom>
          <a:solidFill>
            <a:srgbClr val="1E3A5F"/>
          </a:solidFill>
          <a:ln/>
          <a:effectLst>
            <a:outerShdw sx="100000" sy="100000" kx="0" ky="0" algn="bl" rotWithShape="0" blurRad="101600" dist="38100" dir="2700000">
              <a:srgbClr val="000000">
                <a:alpha val="18000"/>
              </a:srgbClr>
            </a:outerShdw>
          </a:effectLst>
        </p:spPr>
      </p:sp>
      <p:sp>
        <p:nvSpPr>
          <p:cNvPr id="15" name="Text 13"/>
          <p:cNvSpPr/>
          <p:nvPr/>
        </p:nvSpPr>
        <p:spPr>
          <a:xfrm>
            <a:off x="4105656"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0D080"/>
                </a:solidFill>
                <a:latin typeface="Calibri" pitchFamily="34" charset="0"/>
                <a:ea typeface="Calibri" pitchFamily="34" charset="-122"/>
                <a:cs typeface="Calibri" pitchFamily="34" charset="-120"/>
              </a:rPr>
              <a:t>Flatten</a:t>
            </a:r>
            <a:endParaRPr lang="en-US" sz="950" dirty="0"/>
          </a:p>
        </p:txBody>
      </p:sp>
      <p:sp>
        <p:nvSpPr>
          <p:cNvPr id="16" name="Shape 14"/>
          <p:cNvSpPr/>
          <p:nvPr/>
        </p:nvSpPr>
        <p:spPr>
          <a:xfrm>
            <a:off x="5184648" y="1965960"/>
            <a:ext cx="182880" cy="0"/>
          </a:xfrm>
          <a:prstGeom prst="line">
            <a:avLst/>
          </a:prstGeom>
          <a:noFill/>
          <a:ln w="19050">
            <a:solidFill>
              <a:srgbClr val="4A6080"/>
            </a:solidFill>
            <a:prstDash val="solid"/>
          </a:ln>
        </p:spPr>
      </p:sp>
      <p:sp>
        <p:nvSpPr>
          <p:cNvPr id="17" name="Shape 15"/>
          <p:cNvSpPr/>
          <p:nvPr/>
        </p:nvSpPr>
        <p:spPr>
          <a:xfrm>
            <a:off x="5367528" y="1463040"/>
            <a:ext cx="1078992" cy="1005840"/>
          </a:xfrm>
          <a:prstGeom prst="roundRect">
            <a:avLst>
              <a:gd name="adj" fmla="val 9091"/>
            </a:avLst>
          </a:prstGeom>
          <a:solidFill>
            <a:srgbClr val="B03030"/>
          </a:solidFill>
          <a:ln/>
          <a:effectLst>
            <a:outerShdw sx="100000" sy="100000" kx="0" ky="0" algn="bl" rotWithShape="0" blurRad="101600" dist="38100" dir="2700000">
              <a:srgbClr val="000000">
                <a:alpha val="18000"/>
              </a:srgbClr>
            </a:outerShdw>
          </a:effectLst>
        </p:spPr>
      </p:sp>
      <p:sp>
        <p:nvSpPr>
          <p:cNvPr id="18" name="Text 16"/>
          <p:cNvSpPr/>
          <p:nvPr/>
        </p:nvSpPr>
        <p:spPr>
          <a:xfrm>
            <a:off x="5367528"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Dropout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(0.5)</a:t>
            </a:r>
            <a:endParaRPr lang="en-US" sz="950" dirty="0"/>
          </a:p>
        </p:txBody>
      </p:sp>
      <p:sp>
        <p:nvSpPr>
          <p:cNvPr id="19" name="Shape 17"/>
          <p:cNvSpPr/>
          <p:nvPr/>
        </p:nvSpPr>
        <p:spPr>
          <a:xfrm>
            <a:off x="6446520" y="1965960"/>
            <a:ext cx="182880" cy="0"/>
          </a:xfrm>
          <a:prstGeom prst="line">
            <a:avLst/>
          </a:prstGeom>
          <a:noFill/>
          <a:ln w="19050">
            <a:solidFill>
              <a:srgbClr val="4A6080"/>
            </a:solidFill>
            <a:prstDash val="solid"/>
          </a:ln>
        </p:spPr>
      </p:sp>
      <p:sp>
        <p:nvSpPr>
          <p:cNvPr id="20" name="Shape 18"/>
          <p:cNvSpPr/>
          <p:nvPr/>
        </p:nvSpPr>
        <p:spPr>
          <a:xfrm>
            <a:off x="6629400" y="1463040"/>
            <a:ext cx="1078992" cy="1005840"/>
          </a:xfrm>
          <a:prstGeom prst="roundRect">
            <a:avLst>
              <a:gd name="adj" fmla="val 9091"/>
            </a:avLst>
          </a:prstGeom>
          <a:solidFill>
            <a:srgbClr val="2A7A4B"/>
          </a:solidFill>
          <a:ln/>
          <a:effectLst>
            <a:outerShdw sx="100000" sy="100000" kx="0" ky="0" algn="bl" rotWithShape="0" blurRad="101600" dist="38100" dir="2700000">
              <a:srgbClr val="000000">
                <a:alpha val="18000"/>
              </a:srgbClr>
            </a:outerShdw>
          </a:effectLst>
        </p:spPr>
      </p:sp>
      <p:sp>
        <p:nvSpPr>
          <p:cNvPr id="21" name="Text 19"/>
          <p:cNvSpPr/>
          <p:nvPr/>
        </p:nvSpPr>
        <p:spPr>
          <a:xfrm>
            <a:off x="6629400"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Dense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Sigmoid</a:t>
            </a:r>
            <a:endParaRPr lang="en-US" sz="950" dirty="0"/>
          </a:p>
        </p:txBody>
      </p:sp>
      <p:sp>
        <p:nvSpPr>
          <p:cNvPr id="22" name="Shape 20"/>
          <p:cNvSpPr/>
          <p:nvPr/>
        </p:nvSpPr>
        <p:spPr>
          <a:xfrm>
            <a:off x="7708392" y="1965960"/>
            <a:ext cx="182880" cy="0"/>
          </a:xfrm>
          <a:prstGeom prst="line">
            <a:avLst/>
          </a:prstGeom>
          <a:noFill/>
          <a:ln w="19050">
            <a:solidFill>
              <a:srgbClr val="4A6080"/>
            </a:solidFill>
            <a:prstDash val="solid"/>
          </a:ln>
        </p:spPr>
      </p:sp>
      <p:sp>
        <p:nvSpPr>
          <p:cNvPr id="23" name="Shape 21"/>
          <p:cNvSpPr/>
          <p:nvPr/>
        </p:nvSpPr>
        <p:spPr>
          <a:xfrm>
            <a:off x="7891272" y="1463040"/>
            <a:ext cx="1078992" cy="1005840"/>
          </a:xfrm>
          <a:prstGeom prst="roundRect">
            <a:avLst>
              <a:gd name="adj" fmla="val 9091"/>
            </a:avLst>
          </a:prstGeom>
          <a:solidFill>
            <a:srgbClr val="C9A84C"/>
          </a:solidFill>
          <a:ln/>
          <a:effectLst>
            <a:outerShdw sx="100000" sy="100000" kx="0" ky="0" algn="bl" rotWithShape="0" blurRad="101600" dist="38100" dir="2700000">
              <a:srgbClr val="000000">
                <a:alpha val="18000"/>
              </a:srgbClr>
            </a:outerShdw>
          </a:effectLst>
        </p:spPr>
      </p:sp>
      <p:sp>
        <p:nvSpPr>
          <p:cNvPr id="24" name="Text 22"/>
          <p:cNvSpPr/>
          <p:nvPr/>
        </p:nvSpPr>
        <p:spPr>
          <a:xfrm>
            <a:off x="7891272" y="1463040"/>
            <a:ext cx="1078992" cy="1005840"/>
          </a:xfrm>
          <a:prstGeom prst="rect">
            <a:avLst/>
          </a:prstGeom>
          <a:noFill/>
          <a:ln/>
        </p:spPr>
        <p:txBody>
          <a:bodyPr wrap="square" lIns="50800" tIns="50800" rIns="50800" bIns="50800" rtlCol="0" anchor="ctr"/>
          <a:lstStyle/>
          <a:p>
            <a:pPr algn="ctr" indent="0" marL="0">
              <a:buNone/>
            </a:pPr>
            <a:r>
              <a:rPr lang="en-US" sz="950" b="1" dirty="0">
                <a:solidFill>
                  <a:srgbClr val="1A2E4A"/>
                </a:solidFill>
                <a:latin typeface="Calibri" pitchFamily="34" charset="0"/>
                <a:ea typeface="Calibri" pitchFamily="34" charset="-122"/>
                <a:cs typeface="Calibri" pitchFamily="34" charset="-120"/>
              </a:rPr>
              <a:t>Output</a:t>
            </a:r>
            <a:endParaRPr lang="en-US" sz="950" dirty="0"/>
          </a:p>
          <a:p>
            <a:pPr algn="ctr" indent="0" marL="0">
              <a:buNone/>
            </a:pPr>
            <a:r>
              <a:rPr lang="en-US" sz="950" b="1" dirty="0">
                <a:solidFill>
                  <a:srgbClr val="1A2E4A"/>
                </a:solidFill>
                <a:latin typeface="Calibri" pitchFamily="34" charset="0"/>
                <a:ea typeface="Calibri" pitchFamily="34" charset="-122"/>
                <a:cs typeface="Calibri" pitchFamily="34" charset="-120"/>
              </a:rPr>
              <a:t>Looted / Not</a:t>
            </a:r>
            <a:endParaRPr lang="en-US" sz="950" dirty="0"/>
          </a:p>
        </p:txBody>
      </p:sp>
      <p:sp>
        <p:nvSpPr>
          <p:cNvPr id="25" name="Text 23"/>
          <p:cNvSpPr/>
          <p:nvPr/>
        </p:nvSpPr>
        <p:spPr>
          <a:xfrm>
            <a:off x="457200" y="2651760"/>
            <a:ext cx="8229600" cy="411480"/>
          </a:xfrm>
          <a:prstGeom prst="rect">
            <a:avLst/>
          </a:prstGeom>
          <a:noFill/>
          <a:ln/>
        </p:spPr>
        <p:txBody>
          <a:bodyPr wrap="square"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Keunggulan Arsitektur CNN</a:t>
            </a:r>
            <a:endParaRPr lang="en-US" sz="1600" dirty="0"/>
          </a:p>
        </p:txBody>
      </p:sp>
      <p:sp>
        <p:nvSpPr>
          <p:cNvPr id="26" name="Shape 24"/>
          <p:cNvSpPr/>
          <p:nvPr/>
        </p:nvSpPr>
        <p:spPr>
          <a:xfrm>
            <a:off x="457200" y="3127248"/>
            <a:ext cx="2697480" cy="1737360"/>
          </a:xfrm>
          <a:prstGeom prst="roundRect">
            <a:avLst>
              <a:gd name="adj" fmla="val 6316"/>
            </a:avLst>
          </a:prstGeom>
          <a:solidFill>
            <a:srgbClr val="FFFFFF"/>
          </a:solidFill>
          <a:ln/>
          <a:effectLst>
            <a:outerShdw sx="100000" sy="100000" kx="0" ky="0" algn="bl" rotWithShape="0" blurRad="101600" dist="38100" dir="2700000">
              <a:srgbClr val="000000">
                <a:alpha val="18000"/>
              </a:srgbClr>
            </a:outerShdw>
          </a:effectLst>
        </p:spPr>
      </p:sp>
      <p:sp>
        <p:nvSpPr>
          <p:cNvPr id="27" name="Text 25"/>
          <p:cNvSpPr/>
          <p:nvPr/>
        </p:nvSpPr>
        <p:spPr>
          <a:xfrm>
            <a:off x="594360" y="3200400"/>
            <a:ext cx="2423160" cy="457200"/>
          </a:xfrm>
          <a:prstGeom prst="rect">
            <a:avLst/>
          </a:prstGeom>
          <a:noFill/>
          <a:ln/>
        </p:spPr>
        <p:txBody>
          <a:bodyPr wrap="square" lIns="0" tIns="0" rIns="0" bIns="0" rtlCol="0" anchor="t"/>
          <a:lstStyle/>
          <a:p>
            <a:pPr algn="l" indent="0" marL="0">
              <a:buNone/>
            </a:pPr>
            <a:r>
              <a:rPr lang="en-US" sz="1200" b="1" dirty="0">
                <a:solidFill>
                  <a:srgbClr val="1A2E4A"/>
                </a:solidFill>
                <a:latin typeface="Cambria" pitchFamily="34" charset="0"/>
                <a:ea typeface="Cambria" pitchFamily="34" charset="-122"/>
                <a:cs typeface="Cambria" pitchFamily="34" charset="-120"/>
              </a:rPr>
              <a:t>End-to-End Learning</a:t>
            </a:r>
            <a:endParaRPr lang="en-US" sz="1200" dirty="0"/>
          </a:p>
        </p:txBody>
      </p:sp>
      <p:sp>
        <p:nvSpPr>
          <p:cNvPr id="28" name="Text 26"/>
          <p:cNvSpPr/>
          <p:nvPr/>
        </p:nvSpPr>
        <p:spPr>
          <a:xfrm>
            <a:off x="594360" y="3703320"/>
            <a:ext cx="2423160" cy="109728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Ekstraksi fitur spasial otomatis dari piksel RGB tanpa intervensi manual. CNN menemukan pola sendiri secara hierarkis.</a:t>
            </a:r>
            <a:endParaRPr lang="en-US" sz="1050" dirty="0"/>
          </a:p>
        </p:txBody>
      </p:sp>
      <p:sp>
        <p:nvSpPr>
          <p:cNvPr id="29" name="Shape 27"/>
          <p:cNvSpPr/>
          <p:nvPr/>
        </p:nvSpPr>
        <p:spPr>
          <a:xfrm>
            <a:off x="3355848" y="3127248"/>
            <a:ext cx="2697480" cy="1737360"/>
          </a:xfrm>
          <a:prstGeom prst="roundRect">
            <a:avLst>
              <a:gd name="adj" fmla="val 6316"/>
            </a:avLst>
          </a:prstGeom>
          <a:solidFill>
            <a:srgbClr val="FFFFFF"/>
          </a:solidFill>
          <a:ln/>
          <a:effectLst>
            <a:outerShdw sx="100000" sy="100000" kx="0" ky="0" algn="bl" rotWithShape="0" blurRad="101600" dist="38100" dir="2700000">
              <a:srgbClr val="000000">
                <a:alpha val="18000"/>
              </a:srgbClr>
            </a:outerShdw>
          </a:effectLst>
        </p:spPr>
      </p:sp>
      <p:sp>
        <p:nvSpPr>
          <p:cNvPr id="30" name="Text 28"/>
          <p:cNvSpPr/>
          <p:nvPr/>
        </p:nvSpPr>
        <p:spPr>
          <a:xfrm>
            <a:off x="3493008" y="3200400"/>
            <a:ext cx="2423160" cy="457200"/>
          </a:xfrm>
          <a:prstGeom prst="rect">
            <a:avLst/>
          </a:prstGeom>
          <a:noFill/>
          <a:ln/>
        </p:spPr>
        <p:txBody>
          <a:bodyPr wrap="square" lIns="0" tIns="0" rIns="0" bIns="0" rtlCol="0" anchor="t"/>
          <a:lstStyle/>
          <a:p>
            <a:pPr algn="l" indent="0" marL="0">
              <a:buNone/>
            </a:pPr>
            <a:r>
              <a:rPr lang="en-US" sz="1200" b="1" dirty="0">
                <a:solidFill>
                  <a:srgbClr val="1A2E4A"/>
                </a:solidFill>
                <a:latin typeface="Cambria" pitchFamily="34" charset="0"/>
                <a:ea typeface="Cambria" pitchFamily="34" charset="-122"/>
                <a:cs typeface="Cambria" pitchFamily="34" charset="-120"/>
              </a:rPr>
              <a:t>Translation Invariance</a:t>
            </a:r>
            <a:endParaRPr lang="en-US" sz="1200" dirty="0"/>
          </a:p>
        </p:txBody>
      </p:sp>
      <p:sp>
        <p:nvSpPr>
          <p:cNvPr id="31" name="Text 29"/>
          <p:cNvSpPr/>
          <p:nvPr/>
        </p:nvSpPr>
        <p:spPr>
          <a:xfrm>
            <a:off x="3493008" y="3703320"/>
            <a:ext cx="2423160" cy="109728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Tahan terhadap pergeseran posisi objek lubang galian dalam frame citra satelit.</a:t>
            </a:r>
            <a:endParaRPr lang="en-US" sz="1050" dirty="0"/>
          </a:p>
        </p:txBody>
      </p:sp>
      <p:sp>
        <p:nvSpPr>
          <p:cNvPr id="32" name="Shape 30"/>
          <p:cNvSpPr/>
          <p:nvPr/>
        </p:nvSpPr>
        <p:spPr>
          <a:xfrm>
            <a:off x="6254496" y="3127248"/>
            <a:ext cx="2697480" cy="1737360"/>
          </a:xfrm>
          <a:prstGeom prst="roundRect">
            <a:avLst>
              <a:gd name="adj" fmla="val 6316"/>
            </a:avLst>
          </a:prstGeom>
          <a:solidFill>
            <a:srgbClr val="FFFFFF"/>
          </a:solidFill>
          <a:ln/>
          <a:effectLst>
            <a:outerShdw sx="100000" sy="100000" kx="0" ky="0" algn="bl" rotWithShape="0" blurRad="101600" dist="38100" dir="2700000">
              <a:srgbClr val="000000">
                <a:alpha val="18000"/>
              </a:srgbClr>
            </a:outerShdw>
          </a:effectLst>
        </p:spPr>
      </p:sp>
      <p:sp>
        <p:nvSpPr>
          <p:cNvPr id="33" name="Text 31"/>
          <p:cNvSpPr/>
          <p:nvPr/>
        </p:nvSpPr>
        <p:spPr>
          <a:xfrm>
            <a:off x="6391656" y="3200400"/>
            <a:ext cx="2423160" cy="457200"/>
          </a:xfrm>
          <a:prstGeom prst="rect">
            <a:avLst/>
          </a:prstGeom>
          <a:noFill/>
          <a:ln/>
        </p:spPr>
        <p:txBody>
          <a:bodyPr wrap="square" lIns="0" tIns="0" rIns="0" bIns="0" rtlCol="0" anchor="t"/>
          <a:lstStyle/>
          <a:p>
            <a:pPr algn="l" indent="0" marL="0">
              <a:buNone/>
            </a:pPr>
            <a:r>
              <a:rPr lang="en-US" sz="1200" b="1" dirty="0">
                <a:solidFill>
                  <a:srgbClr val="1A2E4A"/>
                </a:solidFill>
                <a:latin typeface="Cambria" pitchFamily="34" charset="0"/>
                <a:ea typeface="Cambria" pitchFamily="34" charset="-122"/>
                <a:cs typeface="Cambria" pitchFamily="34" charset="-120"/>
              </a:rPr>
              <a:t>Dropout Regularization</a:t>
            </a:r>
            <a:endParaRPr lang="en-US" sz="1200" dirty="0"/>
          </a:p>
        </p:txBody>
      </p:sp>
      <p:sp>
        <p:nvSpPr>
          <p:cNvPr id="34" name="Text 32"/>
          <p:cNvSpPr/>
          <p:nvPr/>
        </p:nvSpPr>
        <p:spPr>
          <a:xfrm>
            <a:off x="6391656" y="3703320"/>
            <a:ext cx="2423160" cy="1097280"/>
          </a:xfrm>
          <a:prstGeom prst="rect">
            <a:avLst/>
          </a:prstGeom>
          <a:noFill/>
          <a:ln/>
        </p:spPr>
        <p:txBody>
          <a:bodyPr wrap="square" lIns="50800" tIns="50800" rIns="50800" bIns="50800" rtlCol="0" anchor="t"/>
          <a:lstStyle/>
          <a:p>
            <a:pPr algn="l" indent="0" marL="0">
              <a:buNone/>
            </a:pPr>
            <a:r>
              <a:rPr lang="en-US" sz="1050" dirty="0">
                <a:solidFill>
                  <a:srgbClr val="4A6080"/>
                </a:solidFill>
                <a:latin typeface="Calibri" pitchFamily="34" charset="0"/>
                <a:ea typeface="Calibri" pitchFamily="34" charset="-122"/>
                <a:cs typeface="Calibri" pitchFamily="34" charset="-120"/>
              </a:rPr>
              <a:t>Lapisan Dropout (0.5) secara efektif mencegah overfitting meskipun dataset sangat terbatas (257 sampel latih).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C9A84C"/>
          </a:solidFill>
          <a:ln w="12700">
            <a:solidFill>
              <a:srgbClr val="C9A84C"/>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1A2E4A"/>
                </a:solidFill>
                <a:latin typeface="Calibri" pitchFamily="34" charset="0"/>
                <a:ea typeface="Calibri" pitchFamily="34" charset="-122"/>
                <a:cs typeface="Calibri" pitchFamily="34" charset="-120"/>
              </a:rPr>
              <a:t>03  HASIL &amp; ANALISIS</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Perbandingan Performa Model</a:t>
            </a:r>
            <a:endParaRPr lang="en-US" sz="2600" dirty="0"/>
          </a:p>
        </p:txBody>
      </p:sp>
      <p:sp>
        <p:nvSpPr>
          <p:cNvPr id="5" name="Shape 3"/>
          <p:cNvSpPr/>
          <p:nvPr/>
        </p:nvSpPr>
        <p:spPr>
          <a:xfrm>
            <a:off x="457200" y="1371600"/>
            <a:ext cx="3931920" cy="3520440"/>
          </a:xfrm>
          <a:prstGeom prst="roundRect">
            <a:avLst>
              <a:gd name="adj" fmla="val 3636"/>
            </a:avLst>
          </a:prstGeom>
          <a:solidFill>
            <a:srgbClr val="1E3A5F"/>
          </a:solidFill>
          <a:ln/>
          <a:effectLst>
            <a:outerShdw sx="100000" sy="100000" kx="0" ky="0" algn="bl" rotWithShape="0" blurRad="101600" dist="38100" dir="2700000">
              <a:srgbClr val="000000">
                <a:alpha val="18000"/>
              </a:srgbClr>
            </a:outerShdw>
          </a:effectLst>
        </p:spPr>
      </p:sp>
      <p:sp>
        <p:nvSpPr>
          <p:cNvPr id="6" name="Text 4"/>
          <p:cNvSpPr/>
          <p:nvPr/>
        </p:nvSpPr>
        <p:spPr>
          <a:xfrm>
            <a:off x="457200" y="1463040"/>
            <a:ext cx="3931920" cy="502920"/>
          </a:xfrm>
          <a:prstGeom prst="rect">
            <a:avLst/>
          </a:prstGeom>
          <a:noFill/>
          <a:ln/>
        </p:spPr>
        <p:txBody>
          <a:bodyPr wrap="square" rtlCol="0" anchor="ctr"/>
          <a:lstStyle/>
          <a:p>
            <a:pPr algn="ctr" indent="0" marL="0">
              <a:buNone/>
            </a:pPr>
            <a:r>
              <a:rPr lang="en-US" sz="1800" b="1" dirty="0">
                <a:solidFill>
                  <a:srgbClr val="8AA3BE"/>
                </a:solidFill>
                <a:latin typeface="Cambria" pitchFamily="34" charset="0"/>
                <a:ea typeface="Cambria" pitchFamily="34" charset="-122"/>
                <a:cs typeface="Cambria" pitchFamily="34" charset="-120"/>
              </a:rPr>
              <a:t>SVM</a:t>
            </a:r>
            <a:endParaRPr lang="en-US" sz="1800" dirty="0"/>
          </a:p>
        </p:txBody>
      </p:sp>
      <p:sp>
        <p:nvSpPr>
          <p:cNvPr id="7" name="Text 5"/>
          <p:cNvSpPr/>
          <p:nvPr/>
        </p:nvSpPr>
        <p:spPr>
          <a:xfrm>
            <a:off x="457200" y="1920240"/>
            <a:ext cx="3931920" cy="347472"/>
          </a:xfrm>
          <a:prstGeom prst="rect">
            <a:avLst/>
          </a:prstGeom>
          <a:noFill/>
          <a:ln/>
        </p:spPr>
        <p:txBody>
          <a:bodyPr wrap="square" rtlCol="0" anchor="ctr"/>
          <a:lstStyle/>
          <a:p>
            <a:pPr algn="ctr" indent="0" marL="0">
              <a:buNone/>
            </a:pPr>
            <a:r>
              <a:rPr lang="en-US" sz="950" i="1" dirty="0">
                <a:solidFill>
                  <a:srgbClr val="8AA3BE"/>
                </a:solidFill>
                <a:latin typeface="Calibri" pitchFamily="34" charset="0"/>
                <a:ea typeface="Calibri" pitchFamily="34" charset="-122"/>
                <a:cs typeface="Calibri" pitchFamily="34" charset="-120"/>
              </a:rPr>
              <a:t>HOG + GLCM + Color Hist. + PCA</a:t>
            </a:r>
            <a:endParaRPr lang="en-US" sz="950" dirty="0"/>
          </a:p>
        </p:txBody>
      </p:sp>
      <p:sp>
        <p:nvSpPr>
          <p:cNvPr id="8" name="Text 6"/>
          <p:cNvSpPr/>
          <p:nvPr/>
        </p:nvSpPr>
        <p:spPr>
          <a:xfrm>
            <a:off x="594360" y="2359152"/>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Akurasi</a:t>
            </a:r>
            <a:endParaRPr lang="en-US" sz="1050" dirty="0"/>
          </a:p>
        </p:txBody>
      </p:sp>
      <p:sp>
        <p:nvSpPr>
          <p:cNvPr id="9" name="Text 7"/>
          <p:cNvSpPr/>
          <p:nvPr/>
        </p:nvSpPr>
        <p:spPr>
          <a:xfrm>
            <a:off x="2514600" y="2359152"/>
            <a:ext cx="1691640" cy="502920"/>
          </a:xfrm>
          <a:prstGeom prst="rect">
            <a:avLst/>
          </a:prstGeom>
          <a:noFill/>
          <a:ln/>
        </p:spPr>
        <p:txBody>
          <a:bodyPr wrap="square" lIns="50800" tIns="50800" rIns="50800" bIns="50800" rtlCol="0" anchor="ctr"/>
          <a:lstStyle/>
          <a:p>
            <a:pPr algn="r" indent="0" marL="0">
              <a:buNone/>
            </a:pPr>
            <a:r>
              <a:rPr lang="en-US" sz="1400" b="1" dirty="0">
                <a:solidFill>
                  <a:srgbClr val="E05050"/>
                </a:solidFill>
                <a:latin typeface="Cambria" pitchFamily="34" charset="0"/>
                <a:ea typeface="Cambria" pitchFamily="34" charset="-122"/>
                <a:cs typeface="Cambria" pitchFamily="34" charset="-120"/>
              </a:rPr>
              <a:t>66.15%</a:t>
            </a:r>
            <a:endParaRPr lang="en-US" sz="1400" dirty="0"/>
          </a:p>
        </p:txBody>
      </p:sp>
      <p:sp>
        <p:nvSpPr>
          <p:cNvPr id="10" name="Text 8"/>
          <p:cNvSpPr/>
          <p:nvPr/>
        </p:nvSpPr>
        <p:spPr>
          <a:xfrm>
            <a:off x="594360" y="2980944"/>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Recall Looted</a:t>
            </a:r>
            <a:endParaRPr lang="en-US" sz="1050" dirty="0"/>
          </a:p>
        </p:txBody>
      </p:sp>
      <p:sp>
        <p:nvSpPr>
          <p:cNvPr id="11" name="Text 9"/>
          <p:cNvSpPr/>
          <p:nvPr/>
        </p:nvSpPr>
        <p:spPr>
          <a:xfrm>
            <a:off x="2514600" y="2980944"/>
            <a:ext cx="1691640" cy="502920"/>
          </a:xfrm>
          <a:prstGeom prst="rect">
            <a:avLst/>
          </a:prstGeom>
          <a:noFill/>
          <a:ln/>
        </p:spPr>
        <p:txBody>
          <a:bodyPr wrap="square" lIns="50800" tIns="50800" rIns="50800" bIns="50800" rtlCol="0" anchor="ctr"/>
          <a:lstStyle/>
          <a:p>
            <a:pPr algn="r" indent="0" marL="0">
              <a:buNone/>
            </a:pPr>
            <a:r>
              <a:rPr lang="en-US" sz="1400" b="1" dirty="0">
                <a:solidFill>
                  <a:srgbClr val="F0D080"/>
                </a:solidFill>
                <a:latin typeface="Cambria" pitchFamily="34" charset="0"/>
                <a:ea typeface="Cambria" pitchFamily="34" charset="-122"/>
                <a:cs typeface="Cambria" pitchFamily="34" charset="-120"/>
              </a:rPr>
              <a:t>0.86</a:t>
            </a:r>
            <a:endParaRPr lang="en-US" sz="1400" dirty="0"/>
          </a:p>
        </p:txBody>
      </p:sp>
      <p:sp>
        <p:nvSpPr>
          <p:cNvPr id="12" name="Text 10"/>
          <p:cNvSpPr/>
          <p:nvPr/>
        </p:nvSpPr>
        <p:spPr>
          <a:xfrm>
            <a:off x="594360" y="3602736"/>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Precision NotLooted</a:t>
            </a:r>
            <a:endParaRPr lang="en-US" sz="1050" dirty="0"/>
          </a:p>
        </p:txBody>
      </p:sp>
      <p:sp>
        <p:nvSpPr>
          <p:cNvPr id="13" name="Text 11"/>
          <p:cNvSpPr/>
          <p:nvPr/>
        </p:nvSpPr>
        <p:spPr>
          <a:xfrm>
            <a:off x="2514600" y="3602736"/>
            <a:ext cx="1691640" cy="502920"/>
          </a:xfrm>
          <a:prstGeom prst="rect">
            <a:avLst/>
          </a:prstGeom>
          <a:noFill/>
          <a:ln/>
        </p:spPr>
        <p:txBody>
          <a:bodyPr wrap="square" lIns="50800" tIns="50800" rIns="50800" bIns="50800" rtlCol="0" anchor="ctr"/>
          <a:lstStyle/>
          <a:p>
            <a:pPr algn="r" indent="0" marL="0">
              <a:buNone/>
            </a:pPr>
            <a:r>
              <a:rPr lang="en-US" sz="1400" b="1" dirty="0">
                <a:solidFill>
                  <a:srgbClr val="F0D080"/>
                </a:solidFill>
                <a:latin typeface="Cambria" pitchFamily="34" charset="0"/>
                <a:ea typeface="Cambria" pitchFamily="34" charset="-122"/>
                <a:cs typeface="Cambria" pitchFamily="34" charset="-120"/>
              </a:rPr>
              <a:t>0.71</a:t>
            </a:r>
            <a:endParaRPr lang="en-US" sz="1400" dirty="0"/>
          </a:p>
        </p:txBody>
      </p:sp>
      <p:sp>
        <p:nvSpPr>
          <p:cNvPr id="14" name="Text 12"/>
          <p:cNvSpPr/>
          <p:nvPr/>
        </p:nvSpPr>
        <p:spPr>
          <a:xfrm>
            <a:off x="594360" y="4224528"/>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False Positive</a:t>
            </a:r>
            <a:endParaRPr lang="en-US" sz="1050" dirty="0"/>
          </a:p>
        </p:txBody>
      </p:sp>
      <p:sp>
        <p:nvSpPr>
          <p:cNvPr id="15" name="Text 13"/>
          <p:cNvSpPr/>
          <p:nvPr/>
        </p:nvSpPr>
        <p:spPr>
          <a:xfrm>
            <a:off x="2514600" y="4224528"/>
            <a:ext cx="1691640" cy="502920"/>
          </a:xfrm>
          <a:prstGeom prst="rect">
            <a:avLst/>
          </a:prstGeom>
          <a:noFill/>
          <a:ln/>
        </p:spPr>
        <p:txBody>
          <a:bodyPr wrap="square" lIns="50800" tIns="50800" rIns="50800" bIns="50800" rtlCol="0" anchor="ctr"/>
          <a:lstStyle/>
          <a:p>
            <a:pPr algn="r" indent="0" marL="0">
              <a:buNone/>
            </a:pPr>
            <a:r>
              <a:rPr lang="en-US" sz="1400" b="1" dirty="0">
                <a:solidFill>
                  <a:srgbClr val="E05050"/>
                </a:solidFill>
                <a:latin typeface="Cambria" pitchFamily="34" charset="0"/>
                <a:ea typeface="Cambria" pitchFamily="34" charset="-122"/>
                <a:cs typeface="Cambria" pitchFamily="34" charset="-120"/>
              </a:rPr>
              <a:t>17 citra ⚠</a:t>
            </a:r>
            <a:endParaRPr lang="en-US" sz="1400" dirty="0"/>
          </a:p>
        </p:txBody>
      </p:sp>
      <p:sp>
        <p:nvSpPr>
          <p:cNvPr id="16" name="Shape 14"/>
          <p:cNvSpPr/>
          <p:nvPr/>
        </p:nvSpPr>
        <p:spPr>
          <a:xfrm>
            <a:off x="4754880" y="1371600"/>
            <a:ext cx="3931920" cy="3520440"/>
          </a:xfrm>
          <a:prstGeom prst="roundRect">
            <a:avLst>
              <a:gd name="adj" fmla="val 3636"/>
            </a:avLst>
          </a:prstGeom>
          <a:solidFill>
            <a:srgbClr val="1E3A5F"/>
          </a:solidFill>
          <a:ln/>
          <a:effectLst>
            <a:outerShdw sx="100000" sy="100000" kx="0" ky="0" algn="bl" rotWithShape="0" blurRad="101600" dist="38100" dir="2700000">
              <a:srgbClr val="000000">
                <a:alpha val="18000"/>
              </a:srgbClr>
            </a:outerShdw>
          </a:effectLst>
        </p:spPr>
      </p:sp>
      <p:sp>
        <p:nvSpPr>
          <p:cNvPr id="17" name="Shape 15"/>
          <p:cNvSpPr/>
          <p:nvPr/>
        </p:nvSpPr>
        <p:spPr>
          <a:xfrm>
            <a:off x="5394960" y="1307592"/>
            <a:ext cx="1737360" cy="347472"/>
          </a:xfrm>
          <a:prstGeom prst="roundRect">
            <a:avLst>
              <a:gd name="adj" fmla="val 26316"/>
            </a:avLst>
          </a:prstGeom>
          <a:solidFill>
            <a:srgbClr val="C9A84C"/>
          </a:solidFill>
          <a:ln w="12700">
            <a:solidFill>
              <a:srgbClr val="C9A84C"/>
            </a:solidFill>
            <a:prstDash val="solid"/>
          </a:ln>
        </p:spPr>
      </p:sp>
      <p:sp>
        <p:nvSpPr>
          <p:cNvPr id="18" name="Text 16"/>
          <p:cNvSpPr/>
          <p:nvPr/>
        </p:nvSpPr>
        <p:spPr>
          <a:xfrm>
            <a:off x="5394960" y="1307592"/>
            <a:ext cx="1737360" cy="347472"/>
          </a:xfrm>
          <a:prstGeom prst="rect">
            <a:avLst/>
          </a:prstGeom>
          <a:noFill/>
          <a:ln/>
        </p:spPr>
        <p:txBody>
          <a:bodyPr wrap="square" lIns="0" tIns="0" rIns="0" bIns="0" rtlCol="0" anchor="ctr"/>
          <a:lstStyle/>
          <a:p>
            <a:pPr algn="ctr" indent="0" marL="0">
              <a:buNone/>
            </a:pPr>
            <a:r>
              <a:rPr lang="en-US" sz="1000" b="1" dirty="0">
                <a:solidFill>
                  <a:srgbClr val="1A2E4A"/>
                </a:solidFill>
                <a:latin typeface="Calibri" pitchFamily="34" charset="0"/>
                <a:ea typeface="Calibri" pitchFamily="34" charset="-122"/>
                <a:cs typeface="Calibri" pitchFamily="34" charset="-120"/>
              </a:rPr>
              <a:t>🏆 Unggul</a:t>
            </a:r>
            <a:endParaRPr lang="en-US" sz="1000" dirty="0"/>
          </a:p>
        </p:txBody>
      </p:sp>
      <p:sp>
        <p:nvSpPr>
          <p:cNvPr id="19" name="Text 17"/>
          <p:cNvSpPr/>
          <p:nvPr/>
        </p:nvSpPr>
        <p:spPr>
          <a:xfrm>
            <a:off x="4754880" y="1463040"/>
            <a:ext cx="3931920" cy="502920"/>
          </a:xfrm>
          <a:prstGeom prst="rect">
            <a:avLst/>
          </a:prstGeom>
          <a:noFill/>
          <a:ln/>
        </p:spPr>
        <p:txBody>
          <a:bodyPr wrap="square" rtlCol="0" anchor="ctr"/>
          <a:lstStyle/>
          <a:p>
            <a:pPr algn="ctr" indent="0" marL="0">
              <a:buNone/>
            </a:pPr>
            <a:r>
              <a:rPr lang="en-US" sz="1800" b="1" dirty="0">
                <a:solidFill>
                  <a:srgbClr val="2A7A4B"/>
                </a:solidFill>
                <a:latin typeface="Cambria" pitchFamily="34" charset="0"/>
                <a:ea typeface="Cambria" pitchFamily="34" charset="-122"/>
                <a:cs typeface="Cambria" pitchFamily="34" charset="-120"/>
              </a:rPr>
              <a:t>CNN</a:t>
            </a:r>
            <a:endParaRPr lang="en-US" sz="1800" dirty="0"/>
          </a:p>
        </p:txBody>
      </p:sp>
      <p:sp>
        <p:nvSpPr>
          <p:cNvPr id="20" name="Text 18"/>
          <p:cNvSpPr/>
          <p:nvPr/>
        </p:nvSpPr>
        <p:spPr>
          <a:xfrm>
            <a:off x="4754880" y="1920240"/>
            <a:ext cx="3931920" cy="347472"/>
          </a:xfrm>
          <a:prstGeom prst="rect">
            <a:avLst/>
          </a:prstGeom>
          <a:noFill/>
          <a:ln/>
        </p:spPr>
        <p:txBody>
          <a:bodyPr wrap="square" rtlCol="0" anchor="ctr"/>
          <a:lstStyle/>
          <a:p>
            <a:pPr algn="ctr" indent="0" marL="0">
              <a:buNone/>
            </a:pPr>
            <a:r>
              <a:rPr lang="en-US" sz="950" i="1" dirty="0">
                <a:solidFill>
                  <a:srgbClr val="8AA3BE"/>
                </a:solidFill>
                <a:latin typeface="Calibri" pitchFamily="34" charset="0"/>
                <a:ea typeface="Calibri" pitchFamily="34" charset="-122"/>
                <a:cs typeface="Calibri" pitchFamily="34" charset="-120"/>
              </a:rPr>
              <a:t>Convolutional Neural Network (Sequential)</a:t>
            </a:r>
            <a:endParaRPr lang="en-US" sz="950" dirty="0"/>
          </a:p>
        </p:txBody>
      </p:sp>
      <p:sp>
        <p:nvSpPr>
          <p:cNvPr id="21" name="Text 19"/>
          <p:cNvSpPr/>
          <p:nvPr/>
        </p:nvSpPr>
        <p:spPr>
          <a:xfrm>
            <a:off x="4892040" y="2359152"/>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Akurasi</a:t>
            </a:r>
            <a:endParaRPr lang="en-US" sz="1050" dirty="0"/>
          </a:p>
        </p:txBody>
      </p:sp>
      <p:sp>
        <p:nvSpPr>
          <p:cNvPr id="22" name="Text 20"/>
          <p:cNvSpPr/>
          <p:nvPr/>
        </p:nvSpPr>
        <p:spPr>
          <a:xfrm>
            <a:off x="6812280" y="2359152"/>
            <a:ext cx="1691640" cy="502920"/>
          </a:xfrm>
          <a:prstGeom prst="rect">
            <a:avLst/>
          </a:prstGeom>
          <a:noFill/>
          <a:ln/>
        </p:spPr>
        <p:txBody>
          <a:bodyPr wrap="square" lIns="50800" tIns="50800" rIns="50800" bIns="50800" rtlCol="0" anchor="ctr"/>
          <a:lstStyle/>
          <a:p>
            <a:pPr algn="r" indent="0" marL="0">
              <a:buNone/>
            </a:pPr>
            <a:r>
              <a:rPr lang="en-US" sz="1400" b="1" dirty="0">
                <a:solidFill>
                  <a:srgbClr val="3DAA6A"/>
                </a:solidFill>
                <a:latin typeface="Cambria" pitchFamily="34" charset="0"/>
                <a:ea typeface="Cambria" pitchFamily="34" charset="-122"/>
                <a:cs typeface="Cambria" pitchFamily="34" charset="-120"/>
              </a:rPr>
              <a:t>70.77% ▲</a:t>
            </a:r>
            <a:endParaRPr lang="en-US" sz="1400" dirty="0"/>
          </a:p>
        </p:txBody>
      </p:sp>
      <p:sp>
        <p:nvSpPr>
          <p:cNvPr id="23" name="Text 21"/>
          <p:cNvSpPr/>
          <p:nvPr/>
        </p:nvSpPr>
        <p:spPr>
          <a:xfrm>
            <a:off x="4892040" y="2980944"/>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True Positive</a:t>
            </a:r>
            <a:endParaRPr lang="en-US" sz="1050" dirty="0"/>
          </a:p>
        </p:txBody>
      </p:sp>
      <p:sp>
        <p:nvSpPr>
          <p:cNvPr id="24" name="Text 22"/>
          <p:cNvSpPr/>
          <p:nvPr/>
        </p:nvSpPr>
        <p:spPr>
          <a:xfrm>
            <a:off x="6812280" y="2980944"/>
            <a:ext cx="1691640" cy="502920"/>
          </a:xfrm>
          <a:prstGeom prst="rect">
            <a:avLst/>
          </a:prstGeom>
          <a:noFill/>
          <a:ln/>
        </p:spPr>
        <p:txBody>
          <a:bodyPr wrap="square" lIns="50800" tIns="50800" rIns="50800" bIns="50800" rtlCol="0" anchor="ctr"/>
          <a:lstStyle/>
          <a:p>
            <a:pPr algn="r" indent="0" marL="0">
              <a:buNone/>
            </a:pPr>
            <a:r>
              <a:rPr lang="en-US" sz="1400" b="1" dirty="0">
                <a:solidFill>
                  <a:srgbClr val="F0D080"/>
                </a:solidFill>
                <a:latin typeface="Cambria" pitchFamily="34" charset="0"/>
                <a:ea typeface="Cambria" pitchFamily="34" charset="-122"/>
                <a:cs typeface="Cambria" pitchFamily="34" charset="-120"/>
              </a:rPr>
              <a:t>28 citra</a:t>
            </a:r>
            <a:endParaRPr lang="en-US" sz="1400" dirty="0"/>
          </a:p>
        </p:txBody>
      </p:sp>
      <p:sp>
        <p:nvSpPr>
          <p:cNvPr id="25" name="Text 23"/>
          <p:cNvSpPr/>
          <p:nvPr/>
        </p:nvSpPr>
        <p:spPr>
          <a:xfrm>
            <a:off x="4892040" y="3602736"/>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True Negative</a:t>
            </a:r>
            <a:endParaRPr lang="en-US" sz="1050" dirty="0"/>
          </a:p>
        </p:txBody>
      </p:sp>
      <p:sp>
        <p:nvSpPr>
          <p:cNvPr id="26" name="Text 24"/>
          <p:cNvSpPr/>
          <p:nvPr/>
        </p:nvSpPr>
        <p:spPr>
          <a:xfrm>
            <a:off x="6812280" y="3602736"/>
            <a:ext cx="1691640" cy="502920"/>
          </a:xfrm>
          <a:prstGeom prst="rect">
            <a:avLst/>
          </a:prstGeom>
          <a:noFill/>
          <a:ln/>
        </p:spPr>
        <p:txBody>
          <a:bodyPr wrap="square" lIns="50800" tIns="50800" rIns="50800" bIns="50800" rtlCol="0" anchor="ctr"/>
          <a:lstStyle/>
          <a:p>
            <a:pPr algn="r" indent="0" marL="0">
              <a:buNone/>
            </a:pPr>
            <a:r>
              <a:rPr lang="en-US" sz="1400" b="1" dirty="0">
                <a:solidFill>
                  <a:srgbClr val="F0D080"/>
                </a:solidFill>
                <a:latin typeface="Cambria" pitchFamily="34" charset="0"/>
                <a:ea typeface="Cambria" pitchFamily="34" charset="-122"/>
                <a:cs typeface="Cambria" pitchFamily="34" charset="-120"/>
              </a:rPr>
              <a:t>18 citra</a:t>
            </a:r>
            <a:endParaRPr lang="en-US" sz="1400" dirty="0"/>
          </a:p>
        </p:txBody>
      </p:sp>
      <p:sp>
        <p:nvSpPr>
          <p:cNvPr id="27" name="Text 25"/>
          <p:cNvSpPr/>
          <p:nvPr/>
        </p:nvSpPr>
        <p:spPr>
          <a:xfrm>
            <a:off x="4892040" y="4224528"/>
            <a:ext cx="1920240" cy="502920"/>
          </a:xfrm>
          <a:prstGeom prst="rect">
            <a:avLst/>
          </a:prstGeom>
          <a:noFill/>
          <a:ln/>
        </p:spPr>
        <p:txBody>
          <a:bodyPr wrap="square" lIns="50800" tIns="50800" rIns="50800" bIns="50800" rtlCol="0" anchor="ctr"/>
          <a:lstStyle/>
          <a:p>
            <a:pPr algn="l" indent="0" marL="0">
              <a:buNone/>
            </a:pPr>
            <a:r>
              <a:rPr lang="en-US" sz="1050" dirty="0">
                <a:solidFill>
                  <a:srgbClr val="8AA3BE"/>
                </a:solidFill>
                <a:latin typeface="Calibri" pitchFamily="34" charset="0"/>
                <a:ea typeface="Calibri" pitchFamily="34" charset="-122"/>
                <a:cs typeface="Calibri" pitchFamily="34" charset="-120"/>
              </a:rPr>
              <a:t>False Positive</a:t>
            </a:r>
            <a:endParaRPr lang="en-US" sz="1050" dirty="0"/>
          </a:p>
        </p:txBody>
      </p:sp>
      <p:sp>
        <p:nvSpPr>
          <p:cNvPr id="28" name="Text 26"/>
          <p:cNvSpPr/>
          <p:nvPr/>
        </p:nvSpPr>
        <p:spPr>
          <a:xfrm>
            <a:off x="6812280" y="4224528"/>
            <a:ext cx="1691640" cy="502920"/>
          </a:xfrm>
          <a:prstGeom prst="rect">
            <a:avLst/>
          </a:prstGeom>
          <a:noFill/>
          <a:ln/>
        </p:spPr>
        <p:txBody>
          <a:bodyPr wrap="square" lIns="50800" tIns="50800" rIns="50800" bIns="50800" rtlCol="0" anchor="ctr"/>
          <a:lstStyle/>
          <a:p>
            <a:pPr algn="r" indent="0" marL="0">
              <a:buNone/>
            </a:pPr>
            <a:r>
              <a:rPr lang="en-US" sz="1400" b="1" dirty="0">
                <a:solidFill>
                  <a:srgbClr val="3DAA6A"/>
                </a:solidFill>
                <a:latin typeface="Cambria" pitchFamily="34" charset="0"/>
                <a:ea typeface="Cambria" pitchFamily="34" charset="-122"/>
                <a:cs typeface="Cambria" pitchFamily="34" charset="-120"/>
              </a:rPr>
              <a:t>11 citra ✓</a:t>
            </a:r>
            <a:endParaRPr lang="en-US" sz="1400" dirty="0"/>
          </a:p>
        </p:txBody>
      </p:sp>
      <p:sp>
        <p:nvSpPr>
          <p:cNvPr id="29" name="Text 27"/>
          <p:cNvSpPr/>
          <p:nvPr/>
        </p:nvSpPr>
        <p:spPr>
          <a:xfrm>
            <a:off x="457200" y="4956048"/>
            <a:ext cx="8229600" cy="274320"/>
          </a:xfrm>
          <a:prstGeom prst="rect">
            <a:avLst/>
          </a:prstGeom>
          <a:noFill/>
          <a:ln/>
        </p:spPr>
        <p:txBody>
          <a:bodyPr wrap="square" rtlCol="0" anchor="ctr"/>
          <a:lstStyle/>
          <a:p>
            <a:pPr algn="ctr" indent="0" marL="0">
              <a:buNone/>
            </a:pPr>
            <a:r>
              <a:rPr lang="en-US" sz="1150" b="1" dirty="0">
                <a:solidFill>
                  <a:srgbClr val="C9A84C"/>
                </a:solidFill>
                <a:latin typeface="Calibri" pitchFamily="34" charset="0"/>
                <a:ea typeface="Calibri" pitchFamily="34" charset="-122"/>
                <a:cs typeface="Calibri" pitchFamily="34" charset="-120"/>
              </a:rPr>
              <a:t>CNN unggul 4,62% dibanding SVM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1A2E4A"/>
          </a:solidFill>
          <a:ln w="12700">
            <a:solidFill>
              <a:srgbClr val="1A2E4A"/>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03  HASIL &amp; ANALISIS</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A2E4A"/>
                </a:solidFill>
                <a:latin typeface="Cambria" pitchFamily="34" charset="0"/>
                <a:ea typeface="Cambria" pitchFamily="34" charset="-122"/>
                <a:cs typeface="Cambria" pitchFamily="34" charset="-120"/>
              </a:rPr>
              <a:t>Analisis Confusion Matrix</a:t>
            </a:r>
            <a:endParaRPr lang="en-US" sz="2600" dirty="0"/>
          </a:p>
        </p:txBody>
      </p:sp>
      <p:sp>
        <p:nvSpPr>
          <p:cNvPr id="5" name="Shape 3"/>
          <p:cNvSpPr/>
          <p:nvPr/>
        </p:nvSpPr>
        <p:spPr>
          <a:xfrm>
            <a:off x="457200" y="1353312"/>
            <a:ext cx="1920240" cy="566928"/>
          </a:xfrm>
          <a:prstGeom prst="rect">
            <a:avLst/>
          </a:prstGeom>
          <a:solidFill>
            <a:srgbClr val="1A2E4A"/>
          </a:solidFill>
          <a:ln w="6350">
            <a:solidFill>
              <a:srgbClr val="8AA3BE"/>
            </a:solidFill>
            <a:prstDash val="solid"/>
          </a:ln>
        </p:spPr>
      </p:sp>
      <p:sp>
        <p:nvSpPr>
          <p:cNvPr id="6" name="Text 4"/>
          <p:cNvSpPr/>
          <p:nvPr/>
        </p:nvSpPr>
        <p:spPr>
          <a:xfrm>
            <a:off x="457200" y="1353312"/>
            <a:ext cx="1920240" cy="566928"/>
          </a:xfrm>
          <a:prstGeom prst="rect">
            <a:avLst/>
          </a:prstGeom>
          <a:noFill/>
          <a:ln/>
        </p:spPr>
        <p:txBody>
          <a:bodyPr wrap="square" lIns="50800" tIns="50800" rIns="50800" bIns="50800" rtlCol="0" anchor="ctr"/>
          <a:lstStyle/>
          <a:p>
            <a:pPr algn="ctr" indent="0" marL="0">
              <a:buNone/>
            </a:pPr>
            <a:endParaRPr lang="en-US" sz="1050" dirty="0"/>
          </a:p>
        </p:txBody>
      </p:sp>
      <p:sp>
        <p:nvSpPr>
          <p:cNvPr id="7" name="Shape 5"/>
          <p:cNvSpPr/>
          <p:nvPr/>
        </p:nvSpPr>
        <p:spPr>
          <a:xfrm>
            <a:off x="457200" y="1920240"/>
            <a:ext cx="1920240" cy="566928"/>
          </a:xfrm>
          <a:prstGeom prst="rect">
            <a:avLst/>
          </a:prstGeom>
          <a:solidFill>
            <a:srgbClr val="FFFFFF"/>
          </a:solidFill>
          <a:ln w="6350">
            <a:solidFill>
              <a:srgbClr val="8AA3BE"/>
            </a:solidFill>
            <a:prstDash val="solid"/>
          </a:ln>
        </p:spPr>
      </p:sp>
      <p:sp>
        <p:nvSpPr>
          <p:cNvPr id="8" name="Text 6"/>
          <p:cNvSpPr/>
          <p:nvPr/>
        </p:nvSpPr>
        <p:spPr>
          <a:xfrm>
            <a:off x="457200" y="1920240"/>
            <a:ext cx="1920240" cy="566928"/>
          </a:xfrm>
          <a:prstGeom prst="rect">
            <a:avLst/>
          </a:prstGeom>
          <a:noFill/>
          <a:ln/>
        </p:spPr>
        <p:txBody>
          <a:bodyPr wrap="square" lIns="50800" tIns="50800" rIns="50800" bIns="50800" rtlCol="0" anchor="ctr"/>
          <a:lstStyle/>
          <a:p>
            <a:pPr algn="ctr" indent="0" marL="0">
              <a:buNone/>
            </a:pPr>
            <a:r>
              <a:rPr lang="en-US" sz="1050" b="1" dirty="0">
                <a:solidFill>
                  <a:srgbClr val="1C2B3A"/>
                </a:solidFill>
                <a:latin typeface="Calibri" pitchFamily="34" charset="0"/>
                <a:ea typeface="Calibri" pitchFamily="34" charset="-122"/>
                <a:cs typeface="Calibri" pitchFamily="34" charset="-120"/>
              </a:rPr>
              <a:t>Actual: Looted</a:t>
            </a:r>
            <a:endParaRPr lang="en-US" sz="1050" dirty="0"/>
          </a:p>
        </p:txBody>
      </p:sp>
      <p:sp>
        <p:nvSpPr>
          <p:cNvPr id="9" name="Shape 7"/>
          <p:cNvSpPr/>
          <p:nvPr/>
        </p:nvSpPr>
        <p:spPr>
          <a:xfrm>
            <a:off x="457200" y="2487168"/>
            <a:ext cx="1920240" cy="566928"/>
          </a:xfrm>
          <a:prstGeom prst="rect">
            <a:avLst/>
          </a:prstGeom>
          <a:solidFill>
            <a:srgbClr val="FFFFFF"/>
          </a:solidFill>
          <a:ln w="6350">
            <a:solidFill>
              <a:srgbClr val="8AA3BE"/>
            </a:solidFill>
            <a:prstDash val="solid"/>
          </a:ln>
        </p:spPr>
      </p:sp>
      <p:sp>
        <p:nvSpPr>
          <p:cNvPr id="10" name="Text 8"/>
          <p:cNvSpPr/>
          <p:nvPr/>
        </p:nvSpPr>
        <p:spPr>
          <a:xfrm>
            <a:off x="457200" y="2487168"/>
            <a:ext cx="1920240" cy="566928"/>
          </a:xfrm>
          <a:prstGeom prst="rect">
            <a:avLst/>
          </a:prstGeom>
          <a:noFill/>
          <a:ln/>
        </p:spPr>
        <p:txBody>
          <a:bodyPr wrap="square" lIns="50800" tIns="50800" rIns="50800" bIns="50800" rtlCol="0" anchor="ctr"/>
          <a:lstStyle/>
          <a:p>
            <a:pPr algn="ctr" indent="0" marL="0">
              <a:buNone/>
            </a:pPr>
            <a:r>
              <a:rPr lang="en-US" sz="1050" b="1" dirty="0">
                <a:solidFill>
                  <a:srgbClr val="1C2B3A"/>
                </a:solidFill>
                <a:latin typeface="Calibri" pitchFamily="34" charset="0"/>
                <a:ea typeface="Calibri" pitchFamily="34" charset="-122"/>
                <a:cs typeface="Calibri" pitchFamily="34" charset="-120"/>
              </a:rPr>
              <a:t>Actual: NotLooted</a:t>
            </a:r>
            <a:endParaRPr lang="en-US" sz="1050" dirty="0"/>
          </a:p>
        </p:txBody>
      </p:sp>
      <p:sp>
        <p:nvSpPr>
          <p:cNvPr id="11" name="Shape 9"/>
          <p:cNvSpPr/>
          <p:nvPr/>
        </p:nvSpPr>
        <p:spPr>
          <a:xfrm>
            <a:off x="2377440" y="1353312"/>
            <a:ext cx="1645920" cy="566928"/>
          </a:xfrm>
          <a:prstGeom prst="rect">
            <a:avLst/>
          </a:prstGeom>
          <a:solidFill>
            <a:srgbClr val="1A2E4A"/>
          </a:solidFill>
          <a:ln w="6350">
            <a:solidFill>
              <a:srgbClr val="8AA3BE"/>
            </a:solidFill>
            <a:prstDash val="solid"/>
          </a:ln>
        </p:spPr>
      </p:sp>
      <p:sp>
        <p:nvSpPr>
          <p:cNvPr id="12" name="Text 10"/>
          <p:cNvSpPr/>
          <p:nvPr/>
        </p:nvSpPr>
        <p:spPr>
          <a:xfrm>
            <a:off x="2377440" y="1353312"/>
            <a:ext cx="1645920" cy="566928"/>
          </a:xfrm>
          <a:prstGeom prst="rect">
            <a:avLst/>
          </a:prstGeom>
          <a:noFill/>
          <a:ln/>
        </p:spPr>
        <p:txBody>
          <a:bodyPr wrap="square" lIns="50800" tIns="50800" rIns="50800" bIns="50800" rtlCol="0" anchor="ctr"/>
          <a:lstStyle/>
          <a:p>
            <a:pPr algn="ctr" indent="0" marL="0">
              <a:buNone/>
            </a:pPr>
            <a:r>
              <a:rPr lang="en-US" sz="1050" b="1" dirty="0">
                <a:solidFill>
                  <a:srgbClr val="C9A84C"/>
                </a:solidFill>
                <a:latin typeface="Calibri" pitchFamily="34" charset="0"/>
                <a:ea typeface="Calibri" pitchFamily="34" charset="-122"/>
                <a:cs typeface="Calibri" pitchFamily="34" charset="-120"/>
              </a:rPr>
              <a:t>Pred: Looted</a:t>
            </a:r>
            <a:endParaRPr lang="en-US" sz="1050" dirty="0"/>
          </a:p>
        </p:txBody>
      </p:sp>
      <p:sp>
        <p:nvSpPr>
          <p:cNvPr id="13" name="Shape 11"/>
          <p:cNvSpPr/>
          <p:nvPr/>
        </p:nvSpPr>
        <p:spPr>
          <a:xfrm>
            <a:off x="2377440" y="1920240"/>
            <a:ext cx="1645920" cy="566928"/>
          </a:xfrm>
          <a:prstGeom prst="rect">
            <a:avLst/>
          </a:prstGeom>
          <a:solidFill>
            <a:srgbClr val="1A4A2A"/>
          </a:solidFill>
          <a:ln w="6350">
            <a:solidFill>
              <a:srgbClr val="8AA3BE"/>
            </a:solidFill>
            <a:prstDash val="solid"/>
          </a:ln>
        </p:spPr>
      </p:sp>
      <p:sp>
        <p:nvSpPr>
          <p:cNvPr id="14" name="Text 12"/>
          <p:cNvSpPr/>
          <p:nvPr/>
        </p:nvSpPr>
        <p:spPr>
          <a:xfrm>
            <a:off x="2377440" y="1920240"/>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TP = 31</a:t>
            </a:r>
            <a:endParaRPr lang="en-US" sz="1050" dirty="0"/>
          </a:p>
        </p:txBody>
      </p:sp>
      <p:sp>
        <p:nvSpPr>
          <p:cNvPr id="15" name="Shape 13"/>
          <p:cNvSpPr/>
          <p:nvPr/>
        </p:nvSpPr>
        <p:spPr>
          <a:xfrm>
            <a:off x="2377440" y="2487168"/>
            <a:ext cx="1645920" cy="566928"/>
          </a:xfrm>
          <a:prstGeom prst="rect">
            <a:avLst/>
          </a:prstGeom>
          <a:solidFill>
            <a:srgbClr val="4A1A1A"/>
          </a:solidFill>
          <a:ln w="6350">
            <a:solidFill>
              <a:srgbClr val="8AA3BE"/>
            </a:solidFill>
            <a:prstDash val="solid"/>
          </a:ln>
        </p:spPr>
      </p:sp>
      <p:sp>
        <p:nvSpPr>
          <p:cNvPr id="16" name="Text 14"/>
          <p:cNvSpPr/>
          <p:nvPr/>
        </p:nvSpPr>
        <p:spPr>
          <a:xfrm>
            <a:off x="2377440" y="2487168"/>
            <a:ext cx="1645920" cy="566928"/>
          </a:xfrm>
          <a:prstGeom prst="rect">
            <a:avLst/>
          </a:prstGeom>
          <a:noFill/>
          <a:ln/>
        </p:spPr>
        <p:txBody>
          <a:bodyPr wrap="square" lIns="50800" tIns="50800" rIns="50800" bIns="50800" rtlCol="0" anchor="ctr"/>
          <a:lstStyle/>
          <a:p>
            <a:pPr algn="ctr" indent="0" marL="0">
              <a:buNone/>
            </a:pPr>
            <a:r>
              <a:rPr lang="en-US" sz="1050" dirty="0">
                <a:solidFill>
                  <a:srgbClr val="E05050"/>
                </a:solidFill>
                <a:latin typeface="Calibri" pitchFamily="34" charset="0"/>
                <a:ea typeface="Calibri" pitchFamily="34" charset="-122"/>
                <a:cs typeface="Calibri" pitchFamily="34" charset="-120"/>
              </a:rPr>
              <a:t>FP = 17 ⚠</a:t>
            </a:r>
            <a:endParaRPr lang="en-US" sz="1050" dirty="0"/>
          </a:p>
        </p:txBody>
      </p:sp>
      <p:sp>
        <p:nvSpPr>
          <p:cNvPr id="17" name="Shape 15"/>
          <p:cNvSpPr/>
          <p:nvPr/>
        </p:nvSpPr>
        <p:spPr>
          <a:xfrm>
            <a:off x="4023360" y="1353312"/>
            <a:ext cx="1645920" cy="566928"/>
          </a:xfrm>
          <a:prstGeom prst="rect">
            <a:avLst/>
          </a:prstGeom>
          <a:solidFill>
            <a:srgbClr val="1A2E4A"/>
          </a:solidFill>
          <a:ln w="6350">
            <a:solidFill>
              <a:srgbClr val="8AA3BE"/>
            </a:solidFill>
            <a:prstDash val="solid"/>
          </a:ln>
        </p:spPr>
      </p:sp>
      <p:sp>
        <p:nvSpPr>
          <p:cNvPr id="18" name="Text 16"/>
          <p:cNvSpPr/>
          <p:nvPr/>
        </p:nvSpPr>
        <p:spPr>
          <a:xfrm>
            <a:off x="4023360" y="1353312"/>
            <a:ext cx="1645920" cy="566928"/>
          </a:xfrm>
          <a:prstGeom prst="rect">
            <a:avLst/>
          </a:prstGeom>
          <a:noFill/>
          <a:ln/>
        </p:spPr>
        <p:txBody>
          <a:bodyPr wrap="square" lIns="50800" tIns="50800" rIns="50800" bIns="50800" rtlCol="0" anchor="ctr"/>
          <a:lstStyle/>
          <a:p>
            <a:pPr algn="ctr" indent="0" marL="0">
              <a:buNone/>
            </a:pPr>
            <a:r>
              <a:rPr lang="en-US" sz="1050" b="1" dirty="0">
                <a:solidFill>
                  <a:srgbClr val="C9A84C"/>
                </a:solidFill>
                <a:latin typeface="Calibri" pitchFamily="34" charset="0"/>
                <a:ea typeface="Calibri" pitchFamily="34" charset="-122"/>
                <a:cs typeface="Calibri" pitchFamily="34" charset="-120"/>
              </a:rPr>
              <a:t>Pred: NotLooted</a:t>
            </a:r>
            <a:endParaRPr lang="en-US" sz="1050" dirty="0"/>
          </a:p>
        </p:txBody>
      </p:sp>
      <p:sp>
        <p:nvSpPr>
          <p:cNvPr id="19" name="Shape 17"/>
          <p:cNvSpPr/>
          <p:nvPr/>
        </p:nvSpPr>
        <p:spPr>
          <a:xfrm>
            <a:off x="4023360" y="1920240"/>
            <a:ext cx="1645920" cy="566928"/>
          </a:xfrm>
          <a:prstGeom prst="rect">
            <a:avLst/>
          </a:prstGeom>
          <a:solidFill>
            <a:srgbClr val="FFFFFF"/>
          </a:solidFill>
          <a:ln w="6350">
            <a:solidFill>
              <a:srgbClr val="8AA3BE"/>
            </a:solidFill>
            <a:prstDash val="solid"/>
          </a:ln>
        </p:spPr>
      </p:sp>
      <p:sp>
        <p:nvSpPr>
          <p:cNvPr id="20" name="Text 18"/>
          <p:cNvSpPr/>
          <p:nvPr/>
        </p:nvSpPr>
        <p:spPr>
          <a:xfrm>
            <a:off x="4023360" y="1920240"/>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FN = 5</a:t>
            </a:r>
            <a:endParaRPr lang="en-US" sz="1050" dirty="0"/>
          </a:p>
        </p:txBody>
      </p:sp>
      <p:sp>
        <p:nvSpPr>
          <p:cNvPr id="21" name="Shape 19"/>
          <p:cNvSpPr/>
          <p:nvPr/>
        </p:nvSpPr>
        <p:spPr>
          <a:xfrm>
            <a:off x="4023360" y="2487168"/>
            <a:ext cx="1645920" cy="566928"/>
          </a:xfrm>
          <a:prstGeom prst="rect">
            <a:avLst/>
          </a:prstGeom>
          <a:solidFill>
            <a:srgbClr val="FFFFFF"/>
          </a:solidFill>
          <a:ln w="6350">
            <a:solidFill>
              <a:srgbClr val="8AA3BE"/>
            </a:solidFill>
            <a:prstDash val="solid"/>
          </a:ln>
        </p:spPr>
      </p:sp>
      <p:sp>
        <p:nvSpPr>
          <p:cNvPr id="22" name="Text 20"/>
          <p:cNvSpPr/>
          <p:nvPr/>
        </p:nvSpPr>
        <p:spPr>
          <a:xfrm>
            <a:off x="4023360" y="2487168"/>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TN = 12</a:t>
            </a:r>
            <a:endParaRPr lang="en-US" sz="1050" dirty="0"/>
          </a:p>
        </p:txBody>
      </p:sp>
      <p:sp>
        <p:nvSpPr>
          <p:cNvPr id="23" name="Text 21"/>
          <p:cNvSpPr/>
          <p:nvPr/>
        </p:nvSpPr>
        <p:spPr>
          <a:xfrm>
            <a:off x="457200" y="3182112"/>
            <a:ext cx="5212080" cy="320040"/>
          </a:xfrm>
          <a:prstGeom prst="rect">
            <a:avLst/>
          </a:prstGeom>
          <a:noFill/>
          <a:ln/>
        </p:spPr>
        <p:txBody>
          <a:bodyPr wrap="square" rtlCol="0" anchor="ctr"/>
          <a:lstStyle/>
          <a:p>
            <a:pPr algn="ctr" indent="0" marL="0">
              <a:buNone/>
            </a:pPr>
            <a:r>
              <a:rPr lang="en-US" sz="1100" i="1" dirty="0">
                <a:solidFill>
                  <a:srgbClr val="4A6080"/>
                </a:solidFill>
                <a:latin typeface="Calibri" pitchFamily="34" charset="0"/>
                <a:ea typeface="Calibri" pitchFamily="34" charset="-122"/>
                <a:cs typeface="Calibri" pitchFamily="34" charset="-120"/>
              </a:rPr>
              <a:t>SVM Confusion Matrix</a:t>
            </a:r>
            <a:endParaRPr lang="en-US" sz="1100" dirty="0"/>
          </a:p>
        </p:txBody>
      </p:sp>
      <p:sp>
        <p:nvSpPr>
          <p:cNvPr id="24" name="Shape 22"/>
          <p:cNvSpPr/>
          <p:nvPr/>
        </p:nvSpPr>
        <p:spPr>
          <a:xfrm>
            <a:off x="4846320" y="1353312"/>
            <a:ext cx="1920240" cy="566928"/>
          </a:xfrm>
          <a:prstGeom prst="rect">
            <a:avLst/>
          </a:prstGeom>
          <a:solidFill>
            <a:srgbClr val="1A2E4A"/>
          </a:solidFill>
          <a:ln w="6350">
            <a:solidFill>
              <a:srgbClr val="8AA3BE"/>
            </a:solidFill>
            <a:prstDash val="solid"/>
          </a:ln>
        </p:spPr>
      </p:sp>
      <p:sp>
        <p:nvSpPr>
          <p:cNvPr id="25" name="Text 23"/>
          <p:cNvSpPr/>
          <p:nvPr/>
        </p:nvSpPr>
        <p:spPr>
          <a:xfrm>
            <a:off x="4846320" y="1353312"/>
            <a:ext cx="1920240" cy="566928"/>
          </a:xfrm>
          <a:prstGeom prst="rect">
            <a:avLst/>
          </a:prstGeom>
          <a:noFill/>
          <a:ln/>
        </p:spPr>
        <p:txBody>
          <a:bodyPr wrap="square" lIns="50800" tIns="50800" rIns="50800" bIns="50800" rtlCol="0" anchor="ctr"/>
          <a:lstStyle/>
          <a:p>
            <a:pPr algn="ctr" indent="0" marL="0">
              <a:buNone/>
            </a:pPr>
            <a:endParaRPr lang="en-US" sz="1050" dirty="0"/>
          </a:p>
        </p:txBody>
      </p:sp>
      <p:sp>
        <p:nvSpPr>
          <p:cNvPr id="26" name="Shape 24"/>
          <p:cNvSpPr/>
          <p:nvPr/>
        </p:nvSpPr>
        <p:spPr>
          <a:xfrm>
            <a:off x="4846320" y="1920240"/>
            <a:ext cx="1920240" cy="566928"/>
          </a:xfrm>
          <a:prstGeom prst="rect">
            <a:avLst/>
          </a:prstGeom>
          <a:solidFill>
            <a:srgbClr val="FFFFFF"/>
          </a:solidFill>
          <a:ln w="6350">
            <a:solidFill>
              <a:srgbClr val="8AA3BE"/>
            </a:solidFill>
            <a:prstDash val="solid"/>
          </a:ln>
        </p:spPr>
      </p:sp>
      <p:sp>
        <p:nvSpPr>
          <p:cNvPr id="27" name="Text 25"/>
          <p:cNvSpPr/>
          <p:nvPr/>
        </p:nvSpPr>
        <p:spPr>
          <a:xfrm>
            <a:off x="4846320" y="1920240"/>
            <a:ext cx="1920240" cy="566928"/>
          </a:xfrm>
          <a:prstGeom prst="rect">
            <a:avLst/>
          </a:prstGeom>
          <a:noFill/>
          <a:ln/>
        </p:spPr>
        <p:txBody>
          <a:bodyPr wrap="square" lIns="50800" tIns="50800" rIns="50800" bIns="50800" rtlCol="0" anchor="ctr"/>
          <a:lstStyle/>
          <a:p>
            <a:pPr algn="ctr" indent="0" marL="0">
              <a:buNone/>
            </a:pPr>
            <a:r>
              <a:rPr lang="en-US" sz="1050" b="1" dirty="0">
                <a:solidFill>
                  <a:srgbClr val="1C2B3A"/>
                </a:solidFill>
                <a:latin typeface="Calibri" pitchFamily="34" charset="0"/>
                <a:ea typeface="Calibri" pitchFamily="34" charset="-122"/>
                <a:cs typeface="Calibri" pitchFamily="34" charset="-120"/>
              </a:rPr>
              <a:t>Actual: Looted</a:t>
            </a:r>
            <a:endParaRPr lang="en-US" sz="1050" dirty="0"/>
          </a:p>
        </p:txBody>
      </p:sp>
      <p:sp>
        <p:nvSpPr>
          <p:cNvPr id="28" name="Shape 26"/>
          <p:cNvSpPr/>
          <p:nvPr/>
        </p:nvSpPr>
        <p:spPr>
          <a:xfrm>
            <a:off x="4846320" y="2487168"/>
            <a:ext cx="1920240" cy="566928"/>
          </a:xfrm>
          <a:prstGeom prst="rect">
            <a:avLst/>
          </a:prstGeom>
          <a:solidFill>
            <a:srgbClr val="FFFFFF"/>
          </a:solidFill>
          <a:ln w="6350">
            <a:solidFill>
              <a:srgbClr val="8AA3BE"/>
            </a:solidFill>
            <a:prstDash val="solid"/>
          </a:ln>
        </p:spPr>
      </p:sp>
      <p:sp>
        <p:nvSpPr>
          <p:cNvPr id="29" name="Text 27"/>
          <p:cNvSpPr/>
          <p:nvPr/>
        </p:nvSpPr>
        <p:spPr>
          <a:xfrm>
            <a:off x="4846320" y="2487168"/>
            <a:ext cx="1920240" cy="566928"/>
          </a:xfrm>
          <a:prstGeom prst="rect">
            <a:avLst/>
          </a:prstGeom>
          <a:noFill/>
          <a:ln/>
        </p:spPr>
        <p:txBody>
          <a:bodyPr wrap="square" lIns="50800" tIns="50800" rIns="50800" bIns="50800" rtlCol="0" anchor="ctr"/>
          <a:lstStyle/>
          <a:p>
            <a:pPr algn="ctr" indent="0" marL="0">
              <a:buNone/>
            </a:pPr>
            <a:r>
              <a:rPr lang="en-US" sz="1050" b="1" dirty="0">
                <a:solidFill>
                  <a:srgbClr val="1C2B3A"/>
                </a:solidFill>
                <a:latin typeface="Calibri" pitchFamily="34" charset="0"/>
                <a:ea typeface="Calibri" pitchFamily="34" charset="-122"/>
                <a:cs typeface="Calibri" pitchFamily="34" charset="-120"/>
              </a:rPr>
              <a:t>Actual: NotLooted</a:t>
            </a:r>
            <a:endParaRPr lang="en-US" sz="1050" dirty="0"/>
          </a:p>
        </p:txBody>
      </p:sp>
      <p:sp>
        <p:nvSpPr>
          <p:cNvPr id="30" name="Shape 28"/>
          <p:cNvSpPr/>
          <p:nvPr/>
        </p:nvSpPr>
        <p:spPr>
          <a:xfrm>
            <a:off x="6766560" y="1353312"/>
            <a:ext cx="1645920" cy="566928"/>
          </a:xfrm>
          <a:prstGeom prst="rect">
            <a:avLst/>
          </a:prstGeom>
          <a:solidFill>
            <a:srgbClr val="1A2E4A"/>
          </a:solidFill>
          <a:ln w="6350">
            <a:solidFill>
              <a:srgbClr val="8AA3BE"/>
            </a:solidFill>
            <a:prstDash val="solid"/>
          </a:ln>
        </p:spPr>
      </p:sp>
      <p:sp>
        <p:nvSpPr>
          <p:cNvPr id="31" name="Text 29"/>
          <p:cNvSpPr/>
          <p:nvPr/>
        </p:nvSpPr>
        <p:spPr>
          <a:xfrm>
            <a:off x="6766560" y="1353312"/>
            <a:ext cx="1645920" cy="566928"/>
          </a:xfrm>
          <a:prstGeom prst="rect">
            <a:avLst/>
          </a:prstGeom>
          <a:noFill/>
          <a:ln/>
        </p:spPr>
        <p:txBody>
          <a:bodyPr wrap="square" lIns="50800" tIns="50800" rIns="50800" bIns="50800" rtlCol="0" anchor="ctr"/>
          <a:lstStyle/>
          <a:p>
            <a:pPr algn="ctr" indent="0" marL="0">
              <a:buNone/>
            </a:pPr>
            <a:r>
              <a:rPr lang="en-US" sz="1050" b="1" dirty="0">
                <a:solidFill>
                  <a:srgbClr val="C9A84C"/>
                </a:solidFill>
                <a:latin typeface="Calibri" pitchFamily="34" charset="0"/>
                <a:ea typeface="Calibri" pitchFamily="34" charset="-122"/>
                <a:cs typeface="Calibri" pitchFamily="34" charset="-120"/>
              </a:rPr>
              <a:t>Pred: Looted</a:t>
            </a:r>
            <a:endParaRPr lang="en-US" sz="1050" dirty="0"/>
          </a:p>
        </p:txBody>
      </p:sp>
      <p:sp>
        <p:nvSpPr>
          <p:cNvPr id="32" name="Shape 30"/>
          <p:cNvSpPr/>
          <p:nvPr/>
        </p:nvSpPr>
        <p:spPr>
          <a:xfrm>
            <a:off x="6766560" y="1920240"/>
            <a:ext cx="1645920" cy="566928"/>
          </a:xfrm>
          <a:prstGeom prst="rect">
            <a:avLst/>
          </a:prstGeom>
          <a:solidFill>
            <a:srgbClr val="1A4A2A"/>
          </a:solidFill>
          <a:ln w="6350">
            <a:solidFill>
              <a:srgbClr val="8AA3BE"/>
            </a:solidFill>
            <a:prstDash val="solid"/>
          </a:ln>
        </p:spPr>
      </p:sp>
      <p:sp>
        <p:nvSpPr>
          <p:cNvPr id="33" name="Text 31"/>
          <p:cNvSpPr/>
          <p:nvPr/>
        </p:nvSpPr>
        <p:spPr>
          <a:xfrm>
            <a:off x="6766560" y="1920240"/>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TP = 28</a:t>
            </a:r>
            <a:endParaRPr lang="en-US" sz="1050" dirty="0"/>
          </a:p>
        </p:txBody>
      </p:sp>
      <p:sp>
        <p:nvSpPr>
          <p:cNvPr id="34" name="Shape 32"/>
          <p:cNvSpPr/>
          <p:nvPr/>
        </p:nvSpPr>
        <p:spPr>
          <a:xfrm>
            <a:off x="6766560" y="2487168"/>
            <a:ext cx="1645920" cy="566928"/>
          </a:xfrm>
          <a:prstGeom prst="rect">
            <a:avLst/>
          </a:prstGeom>
          <a:solidFill>
            <a:srgbClr val="4A1A1A"/>
          </a:solidFill>
          <a:ln w="6350">
            <a:solidFill>
              <a:srgbClr val="8AA3BE"/>
            </a:solidFill>
            <a:prstDash val="solid"/>
          </a:ln>
        </p:spPr>
      </p:sp>
      <p:sp>
        <p:nvSpPr>
          <p:cNvPr id="35" name="Text 33"/>
          <p:cNvSpPr/>
          <p:nvPr/>
        </p:nvSpPr>
        <p:spPr>
          <a:xfrm>
            <a:off x="6766560" y="2487168"/>
            <a:ext cx="1645920" cy="566928"/>
          </a:xfrm>
          <a:prstGeom prst="rect">
            <a:avLst/>
          </a:prstGeom>
          <a:noFill/>
          <a:ln/>
        </p:spPr>
        <p:txBody>
          <a:bodyPr wrap="square" lIns="50800" tIns="50800" rIns="50800" bIns="50800" rtlCol="0" anchor="ctr"/>
          <a:lstStyle/>
          <a:p>
            <a:pPr algn="ctr" indent="0" marL="0">
              <a:buNone/>
            </a:pPr>
            <a:r>
              <a:rPr lang="en-US" sz="1050" dirty="0">
                <a:solidFill>
                  <a:srgbClr val="E05050"/>
                </a:solidFill>
                <a:latin typeface="Calibri" pitchFamily="34" charset="0"/>
                <a:ea typeface="Calibri" pitchFamily="34" charset="-122"/>
                <a:cs typeface="Calibri" pitchFamily="34" charset="-120"/>
              </a:rPr>
              <a:t>FP = 11 ✓</a:t>
            </a:r>
            <a:endParaRPr lang="en-US" sz="1050" dirty="0"/>
          </a:p>
        </p:txBody>
      </p:sp>
      <p:sp>
        <p:nvSpPr>
          <p:cNvPr id="36" name="Shape 34"/>
          <p:cNvSpPr/>
          <p:nvPr/>
        </p:nvSpPr>
        <p:spPr>
          <a:xfrm>
            <a:off x="8412480" y="1353312"/>
            <a:ext cx="1645920" cy="566928"/>
          </a:xfrm>
          <a:prstGeom prst="rect">
            <a:avLst/>
          </a:prstGeom>
          <a:solidFill>
            <a:srgbClr val="1A2E4A"/>
          </a:solidFill>
          <a:ln w="6350">
            <a:solidFill>
              <a:srgbClr val="8AA3BE"/>
            </a:solidFill>
            <a:prstDash val="solid"/>
          </a:ln>
        </p:spPr>
      </p:sp>
      <p:sp>
        <p:nvSpPr>
          <p:cNvPr id="37" name="Text 35"/>
          <p:cNvSpPr/>
          <p:nvPr/>
        </p:nvSpPr>
        <p:spPr>
          <a:xfrm>
            <a:off x="8412480" y="1353312"/>
            <a:ext cx="1645920" cy="566928"/>
          </a:xfrm>
          <a:prstGeom prst="rect">
            <a:avLst/>
          </a:prstGeom>
          <a:noFill/>
          <a:ln/>
        </p:spPr>
        <p:txBody>
          <a:bodyPr wrap="square" lIns="50800" tIns="50800" rIns="50800" bIns="50800" rtlCol="0" anchor="ctr"/>
          <a:lstStyle/>
          <a:p>
            <a:pPr algn="ctr" indent="0" marL="0">
              <a:buNone/>
            </a:pPr>
            <a:r>
              <a:rPr lang="en-US" sz="1050" b="1" dirty="0">
                <a:solidFill>
                  <a:srgbClr val="C9A84C"/>
                </a:solidFill>
                <a:latin typeface="Calibri" pitchFamily="34" charset="0"/>
                <a:ea typeface="Calibri" pitchFamily="34" charset="-122"/>
                <a:cs typeface="Calibri" pitchFamily="34" charset="-120"/>
              </a:rPr>
              <a:t>Pred: NotLooted</a:t>
            </a:r>
            <a:endParaRPr lang="en-US" sz="1050" dirty="0"/>
          </a:p>
        </p:txBody>
      </p:sp>
      <p:sp>
        <p:nvSpPr>
          <p:cNvPr id="38" name="Shape 36"/>
          <p:cNvSpPr/>
          <p:nvPr/>
        </p:nvSpPr>
        <p:spPr>
          <a:xfrm>
            <a:off x="8412480" y="1920240"/>
            <a:ext cx="1645920" cy="566928"/>
          </a:xfrm>
          <a:prstGeom prst="rect">
            <a:avLst/>
          </a:prstGeom>
          <a:solidFill>
            <a:srgbClr val="FFFFFF"/>
          </a:solidFill>
          <a:ln w="6350">
            <a:solidFill>
              <a:srgbClr val="8AA3BE"/>
            </a:solidFill>
            <a:prstDash val="solid"/>
          </a:ln>
        </p:spPr>
      </p:sp>
      <p:sp>
        <p:nvSpPr>
          <p:cNvPr id="39" name="Text 37"/>
          <p:cNvSpPr/>
          <p:nvPr/>
        </p:nvSpPr>
        <p:spPr>
          <a:xfrm>
            <a:off x="8412480" y="1920240"/>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FN = 8</a:t>
            </a:r>
            <a:endParaRPr lang="en-US" sz="1050" dirty="0"/>
          </a:p>
        </p:txBody>
      </p:sp>
      <p:sp>
        <p:nvSpPr>
          <p:cNvPr id="40" name="Shape 38"/>
          <p:cNvSpPr/>
          <p:nvPr/>
        </p:nvSpPr>
        <p:spPr>
          <a:xfrm>
            <a:off x="8412480" y="2487168"/>
            <a:ext cx="1645920" cy="566928"/>
          </a:xfrm>
          <a:prstGeom prst="rect">
            <a:avLst/>
          </a:prstGeom>
          <a:solidFill>
            <a:srgbClr val="FFFFFF"/>
          </a:solidFill>
          <a:ln w="6350">
            <a:solidFill>
              <a:srgbClr val="8AA3BE"/>
            </a:solidFill>
            <a:prstDash val="solid"/>
          </a:ln>
        </p:spPr>
      </p:sp>
      <p:sp>
        <p:nvSpPr>
          <p:cNvPr id="41" name="Text 39"/>
          <p:cNvSpPr/>
          <p:nvPr/>
        </p:nvSpPr>
        <p:spPr>
          <a:xfrm>
            <a:off x="8412480" y="2487168"/>
            <a:ext cx="1645920" cy="566928"/>
          </a:xfrm>
          <a:prstGeom prst="rect">
            <a:avLst/>
          </a:prstGeom>
          <a:noFill/>
          <a:ln/>
        </p:spPr>
        <p:txBody>
          <a:bodyPr wrap="square" lIns="50800" tIns="50800" rIns="50800" bIns="50800" rtlCol="0" anchor="ctr"/>
          <a:lstStyle/>
          <a:p>
            <a:pPr algn="ctr" indent="0" marL="0">
              <a:buNone/>
            </a:pPr>
            <a:r>
              <a:rPr lang="en-US" sz="1050" dirty="0">
                <a:solidFill>
                  <a:srgbClr val="3DAA6A"/>
                </a:solidFill>
                <a:latin typeface="Calibri" pitchFamily="34" charset="0"/>
                <a:ea typeface="Calibri" pitchFamily="34" charset="-122"/>
                <a:cs typeface="Calibri" pitchFamily="34" charset="-120"/>
              </a:rPr>
              <a:t>TN = 18</a:t>
            </a:r>
            <a:endParaRPr lang="en-US" sz="1050" dirty="0"/>
          </a:p>
        </p:txBody>
      </p:sp>
      <p:sp>
        <p:nvSpPr>
          <p:cNvPr id="42" name="Text 40"/>
          <p:cNvSpPr/>
          <p:nvPr/>
        </p:nvSpPr>
        <p:spPr>
          <a:xfrm>
            <a:off x="4846320" y="3182112"/>
            <a:ext cx="5212080" cy="320040"/>
          </a:xfrm>
          <a:prstGeom prst="rect">
            <a:avLst/>
          </a:prstGeom>
          <a:noFill/>
          <a:ln/>
        </p:spPr>
        <p:txBody>
          <a:bodyPr wrap="square" rtlCol="0" anchor="ctr"/>
          <a:lstStyle/>
          <a:p>
            <a:pPr algn="ctr" indent="0" marL="0">
              <a:buNone/>
            </a:pPr>
            <a:r>
              <a:rPr lang="en-US" sz="1100" i="1" dirty="0">
                <a:solidFill>
                  <a:srgbClr val="4A6080"/>
                </a:solidFill>
                <a:latin typeface="Calibri" pitchFamily="34" charset="0"/>
                <a:ea typeface="Calibri" pitchFamily="34" charset="-122"/>
                <a:cs typeface="Calibri" pitchFamily="34" charset="-120"/>
              </a:rPr>
              <a:t>CNN Confusion Matrix</a:t>
            </a:r>
            <a:endParaRPr lang="en-US" sz="1100" dirty="0"/>
          </a:p>
        </p:txBody>
      </p:sp>
      <p:sp>
        <p:nvSpPr>
          <p:cNvPr id="43" name="Shape 41"/>
          <p:cNvSpPr/>
          <p:nvPr/>
        </p:nvSpPr>
        <p:spPr>
          <a:xfrm>
            <a:off x="457200" y="3566160"/>
            <a:ext cx="8229600" cy="1371600"/>
          </a:xfrm>
          <a:prstGeom prst="roundRect">
            <a:avLst>
              <a:gd name="adj" fmla="val 8000"/>
            </a:avLst>
          </a:prstGeom>
          <a:solidFill>
            <a:srgbClr val="FFFFFF"/>
          </a:solidFill>
          <a:ln/>
          <a:effectLst>
            <a:outerShdw sx="100000" sy="100000" kx="0" ky="0" algn="bl" rotWithShape="0" blurRad="101600" dist="38100" dir="2700000">
              <a:srgbClr val="000000">
                <a:alpha val="18000"/>
              </a:srgbClr>
            </a:outerShdw>
          </a:effectLst>
        </p:spPr>
      </p:sp>
      <p:sp>
        <p:nvSpPr>
          <p:cNvPr id="44" name="Text 42"/>
          <p:cNvSpPr/>
          <p:nvPr/>
        </p:nvSpPr>
        <p:spPr>
          <a:xfrm>
            <a:off x="640080" y="3630168"/>
            <a:ext cx="7863840" cy="1234440"/>
          </a:xfrm>
          <a:prstGeom prst="rect">
            <a:avLst/>
          </a:prstGeom>
          <a:noFill/>
          <a:ln/>
        </p:spPr>
        <p:txBody>
          <a:bodyPr wrap="square" lIns="76200" tIns="76200" rIns="76200" bIns="76200" rtlCol="0" anchor="ctr"/>
          <a:lstStyle/>
          <a:p>
            <a:pPr algn="l" indent="0" marL="0">
              <a:buNone/>
            </a:pPr>
            <a:r>
              <a:rPr lang="en-US" sz="1100" b="1" dirty="0">
                <a:solidFill>
                  <a:srgbClr val="1A2E4A"/>
                </a:solidFill>
                <a:latin typeface="Calibri" pitchFamily="34" charset="0"/>
                <a:ea typeface="Calibri" pitchFamily="34" charset="-122"/>
                <a:cs typeface="Calibri" pitchFamily="34" charset="-120"/>
              </a:rPr>
              <a:t>Insight Utama:
</a:t>
            </a:r>
            <a:pPr algn="l" indent="0" marL="0">
              <a:buNone/>
            </a:pPr>
            <a:r>
              <a:rPr lang="en-US" sz="1100" dirty="0">
                <a:solidFill>
                  <a:srgbClr val="4A6080"/>
                </a:solidFill>
                <a:latin typeface="Calibri" pitchFamily="34" charset="0"/>
                <a:ea typeface="Calibri" pitchFamily="34" charset="-122"/>
                <a:cs typeface="Calibri" pitchFamily="34" charset="-120"/>
              </a:rPr>
              <a:t>SVM sangat agresif mendeteksi galian (Recall Looted tinggi) namun memicu 17 alarm palsu (False Positive). CNN lebih seimbang — True Negative 18 vs SVM hanya 12 — dan berhasil menekan False Positive menjadi hanya 11. Keseimbangan inilah yang membuat CNN lebih unggul secara agregat.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C9A84C"/>
          </a:solidFill>
          <a:ln w="12700">
            <a:solidFill>
              <a:srgbClr val="C9A84C"/>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1A2E4A"/>
                </a:solidFill>
                <a:latin typeface="Calibri" pitchFamily="34" charset="0"/>
                <a:ea typeface="Calibri" pitchFamily="34" charset="-122"/>
                <a:cs typeface="Calibri" pitchFamily="34" charset="-120"/>
              </a:rPr>
              <a:t>03  HASIL &amp; ANALISIS</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Mengapa CNN Mengungguli SVM?</a:t>
            </a:r>
            <a:endParaRPr lang="en-US" sz="2600" dirty="0"/>
          </a:p>
        </p:txBody>
      </p:sp>
      <p:sp>
        <p:nvSpPr>
          <p:cNvPr id="5" name="Shape 3"/>
          <p:cNvSpPr/>
          <p:nvPr/>
        </p:nvSpPr>
        <p:spPr>
          <a:xfrm>
            <a:off x="457200" y="1371600"/>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6" name="Text 4"/>
          <p:cNvSpPr/>
          <p:nvPr/>
        </p:nvSpPr>
        <p:spPr>
          <a:xfrm>
            <a:off x="594360" y="1463040"/>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371600" y="1463040"/>
            <a:ext cx="292608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Kelemahan Reduksi PCA pada SVM</a:t>
            </a:r>
            <a:endParaRPr lang="en-US" sz="1300" dirty="0"/>
          </a:p>
        </p:txBody>
      </p:sp>
      <p:sp>
        <p:nvSpPr>
          <p:cNvPr id="8" name="Text 6"/>
          <p:cNvSpPr/>
          <p:nvPr/>
        </p:nvSpPr>
        <p:spPr>
          <a:xfrm>
            <a:off x="1371600" y="1874520"/>
            <a:ext cx="7132320" cy="548640"/>
          </a:xfrm>
          <a:prstGeom prst="rect">
            <a:avLst/>
          </a:prstGeom>
          <a:noFill/>
          <a:ln/>
        </p:spPr>
        <p:txBody>
          <a:bodyPr wrap="square" lIns="0" tIns="0" rIns="0" bIns="0" rtlCol="0" anchor="t"/>
          <a:lstStyle/>
          <a:p>
            <a:pPr algn="l" indent="0" marL="0">
              <a:buNone/>
            </a:pPr>
            <a:r>
              <a:rPr lang="en-US" sz="1050" dirty="0">
                <a:solidFill>
                  <a:srgbClr val="8AA3BE"/>
                </a:solidFill>
                <a:latin typeface="Calibri" pitchFamily="34" charset="0"/>
                <a:ea typeface="Calibri" pitchFamily="34" charset="-122"/>
                <a:cs typeface="Calibri" pitchFamily="34" charset="-120"/>
              </a:rPr>
              <a:t>Kompresi &gt;8.000 fitur manual menjadi hanya 100 komponen (PCA) menyebabkan information loss. Detail visual samar yang membedakan kawah galian vs kontur pasir alami ikut terbuang, menciptakan tumpang-tindih (overlapping) masif antar kelas.</a:t>
            </a:r>
            <a:endParaRPr lang="en-US" sz="1050" dirty="0"/>
          </a:p>
        </p:txBody>
      </p:sp>
      <p:sp>
        <p:nvSpPr>
          <p:cNvPr id="9" name="Shape 7"/>
          <p:cNvSpPr/>
          <p:nvPr/>
        </p:nvSpPr>
        <p:spPr>
          <a:xfrm>
            <a:off x="457200" y="2606040"/>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10" name="Text 8"/>
          <p:cNvSpPr/>
          <p:nvPr/>
        </p:nvSpPr>
        <p:spPr>
          <a:xfrm>
            <a:off x="594360" y="2697480"/>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371600" y="2697480"/>
            <a:ext cx="292608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Keunggulan Fitur Hierarkis CNN</a:t>
            </a:r>
            <a:endParaRPr lang="en-US" sz="1300" dirty="0"/>
          </a:p>
        </p:txBody>
      </p:sp>
      <p:sp>
        <p:nvSpPr>
          <p:cNvPr id="12" name="Text 10"/>
          <p:cNvSpPr/>
          <p:nvPr/>
        </p:nvSpPr>
        <p:spPr>
          <a:xfrm>
            <a:off x="1371600" y="3108960"/>
            <a:ext cx="7132320" cy="548640"/>
          </a:xfrm>
          <a:prstGeom prst="rect">
            <a:avLst/>
          </a:prstGeom>
          <a:noFill/>
          <a:ln/>
        </p:spPr>
        <p:txBody>
          <a:bodyPr wrap="square" lIns="0" tIns="0" rIns="0" bIns="0" rtlCol="0" anchor="t"/>
          <a:lstStyle/>
          <a:p>
            <a:pPr algn="l" indent="0" marL="0">
              <a:buNone/>
            </a:pPr>
            <a:r>
              <a:rPr lang="en-US" sz="1050" dirty="0">
                <a:solidFill>
                  <a:srgbClr val="8AA3BE"/>
                </a:solidFill>
                <a:latin typeface="Calibri" pitchFamily="34" charset="0"/>
                <a:ea typeface="Calibri" pitchFamily="34" charset="-122"/>
                <a:cs typeface="Calibri" pitchFamily="34" charset="-120"/>
              </a:rPr>
              <a:t>CNN mengekstrak fitur hierarkis secara langsung dari piksel RGB asli (end-to-end). Lapisan konvolusi berlapis mampu menangkap detail mikro tekstur pasir yang tidak dapat direpresentasikan oleh HOG/GLCM/Histogram secara terpisah.</a:t>
            </a:r>
            <a:endParaRPr lang="en-US" sz="1050" dirty="0"/>
          </a:p>
        </p:txBody>
      </p:sp>
      <p:sp>
        <p:nvSpPr>
          <p:cNvPr id="13" name="Shape 11"/>
          <p:cNvSpPr/>
          <p:nvPr/>
        </p:nvSpPr>
        <p:spPr>
          <a:xfrm>
            <a:off x="457200" y="3840480"/>
            <a:ext cx="8229600" cy="1115568"/>
          </a:xfrm>
          <a:prstGeom prst="roundRect">
            <a:avLst>
              <a:gd name="adj" fmla="val 9836"/>
            </a:avLst>
          </a:prstGeom>
          <a:solidFill>
            <a:srgbClr val="1E3A5F"/>
          </a:solidFill>
          <a:ln/>
          <a:effectLst>
            <a:outerShdw sx="100000" sy="100000" kx="0" ky="0" algn="bl" rotWithShape="0" blurRad="101600" dist="38100" dir="2700000">
              <a:srgbClr val="000000">
                <a:alpha val="18000"/>
              </a:srgbClr>
            </a:outerShdw>
          </a:effectLst>
        </p:spPr>
      </p:sp>
      <p:sp>
        <p:nvSpPr>
          <p:cNvPr id="14" name="Text 12"/>
          <p:cNvSpPr/>
          <p:nvPr/>
        </p:nvSpPr>
        <p:spPr>
          <a:xfrm>
            <a:off x="594360" y="3931920"/>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1371600" y="3931920"/>
            <a:ext cx="2926080" cy="411480"/>
          </a:xfrm>
          <a:prstGeom prst="rect">
            <a:avLst/>
          </a:prstGeom>
          <a:noFill/>
          <a:ln/>
        </p:spPr>
        <p:txBody>
          <a:bodyPr wrap="square" lIns="0" tIns="0" rIns="0" bIns="0" rtlCol="0" anchor="t"/>
          <a:lstStyle/>
          <a:p>
            <a:pPr algn="l" indent="0" marL="0">
              <a:buNone/>
            </a:pPr>
            <a:r>
              <a:rPr lang="en-US" sz="1300" b="1" dirty="0">
                <a:solidFill>
                  <a:srgbClr val="C9A84C"/>
                </a:solidFill>
                <a:latin typeface="Cambria" pitchFamily="34" charset="0"/>
                <a:ea typeface="Cambria" pitchFamily="34" charset="-122"/>
                <a:cs typeface="Cambria" pitchFamily="34" charset="-120"/>
              </a:rPr>
              <a:t>Dropout Mencegah Overfitting</a:t>
            </a:r>
            <a:endParaRPr lang="en-US" sz="1300" dirty="0"/>
          </a:p>
        </p:txBody>
      </p:sp>
      <p:sp>
        <p:nvSpPr>
          <p:cNvPr id="16" name="Text 14"/>
          <p:cNvSpPr/>
          <p:nvPr/>
        </p:nvSpPr>
        <p:spPr>
          <a:xfrm>
            <a:off x="1371600" y="4343400"/>
            <a:ext cx="7132320" cy="548640"/>
          </a:xfrm>
          <a:prstGeom prst="rect">
            <a:avLst/>
          </a:prstGeom>
          <a:noFill/>
          <a:ln/>
        </p:spPr>
        <p:txBody>
          <a:bodyPr wrap="square" lIns="0" tIns="0" rIns="0" bIns="0" rtlCol="0" anchor="t"/>
          <a:lstStyle/>
          <a:p>
            <a:pPr algn="l" indent="0" marL="0">
              <a:buNone/>
            </a:pPr>
            <a:r>
              <a:rPr lang="en-US" sz="1050" dirty="0">
                <a:solidFill>
                  <a:srgbClr val="8AA3BE"/>
                </a:solidFill>
                <a:latin typeface="Calibri" pitchFamily="34" charset="0"/>
                <a:ea typeface="Calibri" pitchFamily="34" charset="-122"/>
                <a:cs typeface="Calibri" pitchFamily="34" charset="-120"/>
              </a:rPr>
              <a:t>Bertolak belakang dengan asumsi klasik bahwa Deep Learning butuh data masif, Dropout(0.5) terbukti efektif menstabilkan CNN pada dataset kecil (257 sampel latih), menghasilkan model yang lebih general dan robust.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457200" y="256032"/>
            <a:ext cx="1463040" cy="320040"/>
          </a:xfrm>
          <a:prstGeom prst="roundRect">
            <a:avLst>
              <a:gd name="adj" fmla="val 22857"/>
            </a:avLst>
          </a:prstGeom>
          <a:solidFill>
            <a:srgbClr val="1A2E4A"/>
          </a:solidFill>
          <a:ln w="12700">
            <a:solidFill>
              <a:srgbClr val="1A2E4A"/>
            </a:solidFill>
            <a:prstDash val="solid"/>
          </a:ln>
        </p:spPr>
      </p:sp>
      <p:sp>
        <p:nvSpPr>
          <p:cNvPr id="3" name="Text 1"/>
          <p:cNvSpPr/>
          <p:nvPr/>
        </p:nvSpPr>
        <p:spPr>
          <a:xfrm>
            <a:off x="457200" y="256032"/>
            <a:ext cx="14630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04  KESIMPULAN</a:t>
            </a:r>
            <a:endParaRPr lang="en-US" sz="8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A2E4A"/>
                </a:solidFill>
                <a:latin typeface="Cambria" pitchFamily="34" charset="0"/>
                <a:ea typeface="Cambria" pitchFamily="34" charset="-122"/>
                <a:cs typeface="Cambria" pitchFamily="34" charset="-120"/>
              </a:rPr>
              <a:t>Kesimpulan &amp; Saran</a:t>
            </a:r>
            <a:endParaRPr lang="en-US" sz="2600" dirty="0"/>
          </a:p>
        </p:txBody>
      </p:sp>
      <p:sp>
        <p:nvSpPr>
          <p:cNvPr id="5" name="Shape 3"/>
          <p:cNvSpPr/>
          <p:nvPr/>
        </p:nvSpPr>
        <p:spPr>
          <a:xfrm>
            <a:off x="457200" y="1298448"/>
            <a:ext cx="8229600" cy="1554480"/>
          </a:xfrm>
          <a:prstGeom prst="roundRect">
            <a:avLst>
              <a:gd name="adj" fmla="val 8235"/>
            </a:avLst>
          </a:prstGeom>
          <a:solidFill>
            <a:srgbClr val="1A2E4A"/>
          </a:solidFill>
          <a:ln/>
          <a:effectLst>
            <a:outerShdw sx="100000" sy="100000" kx="0" ky="0" algn="bl" rotWithShape="0" blurRad="101600" dist="38100" dir="2700000">
              <a:srgbClr val="000000">
                <a:alpha val="18000"/>
              </a:srgbClr>
            </a:outerShdw>
          </a:effectLst>
        </p:spPr>
      </p:sp>
      <p:sp>
        <p:nvSpPr>
          <p:cNvPr id="6" name="Text 4"/>
          <p:cNvSpPr/>
          <p:nvPr/>
        </p:nvSpPr>
        <p:spPr>
          <a:xfrm>
            <a:off x="640080" y="1389888"/>
            <a:ext cx="7863840" cy="411480"/>
          </a:xfrm>
          <a:prstGeom prst="rect">
            <a:avLst/>
          </a:prstGeom>
          <a:noFill/>
          <a:ln/>
        </p:spPr>
        <p:txBody>
          <a:bodyPr wrap="square" lIns="0" tIns="0" rIns="0" bIns="0" rtlCol="0" anchor="ctr"/>
          <a:lstStyle/>
          <a:p>
            <a:pPr algn="l" indent="0" marL="0">
              <a:buNone/>
            </a:pPr>
            <a:r>
              <a:rPr lang="en-US" sz="1400" b="1" dirty="0">
                <a:solidFill>
                  <a:srgbClr val="C9A84C"/>
                </a:solidFill>
                <a:latin typeface="Cambria" pitchFamily="34" charset="0"/>
                <a:ea typeface="Cambria" pitchFamily="34" charset="-122"/>
                <a:cs typeface="Cambria" pitchFamily="34" charset="-120"/>
              </a:rPr>
              <a:t>✅  Kesimpulan Utama</a:t>
            </a:r>
            <a:endParaRPr lang="en-US" sz="1400" dirty="0"/>
          </a:p>
        </p:txBody>
      </p:sp>
      <p:sp>
        <p:nvSpPr>
          <p:cNvPr id="7" name="Text 5"/>
          <p:cNvSpPr/>
          <p:nvPr/>
        </p:nvSpPr>
        <p:spPr>
          <a:xfrm>
            <a:off x="640080" y="1801368"/>
            <a:ext cx="7863840" cy="1005840"/>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CNN (akurasi 70,77%) terbukti lebih unggul dibanding SVM + handcrafted features (akurasi 66,15%) dalam mengklasifikasi citra satelit situs arkeologi Mesir pada small dataset. CNN mendemonstrasikan kapabilitas lebih baik dalam mengekstrak fitur hierarkis spasial lubang galian secara otomatis, mengungguli proses ekstraksi fitur manual yang direduksi oleh PCA.</a:t>
            </a:r>
            <a:endParaRPr lang="en-US" sz="1100" dirty="0"/>
          </a:p>
        </p:txBody>
      </p:sp>
      <p:sp>
        <p:nvSpPr>
          <p:cNvPr id="8" name="Text 6"/>
          <p:cNvSpPr/>
          <p:nvPr/>
        </p:nvSpPr>
        <p:spPr>
          <a:xfrm>
            <a:off x="457200" y="2944368"/>
            <a:ext cx="3977640" cy="384048"/>
          </a:xfrm>
          <a:prstGeom prst="rect">
            <a:avLst/>
          </a:prstGeom>
          <a:noFill/>
          <a:ln/>
        </p:spPr>
        <p:txBody>
          <a:bodyPr wrap="square" rtlCol="0" anchor="ctr"/>
          <a:lstStyle/>
          <a:p>
            <a:pPr indent="0" marL="0">
              <a:buNone/>
            </a:pPr>
            <a:r>
              <a:rPr lang="en-US" sz="1300" b="1" dirty="0">
                <a:solidFill>
                  <a:srgbClr val="1A2E4A"/>
                </a:solidFill>
                <a:latin typeface="Cambria" pitchFamily="34" charset="0"/>
                <a:ea typeface="Cambria" pitchFamily="34" charset="-122"/>
                <a:cs typeface="Cambria" pitchFamily="34" charset="-120"/>
              </a:rPr>
              <a:t>⚠  Kendala Eksperimen</a:t>
            </a:r>
            <a:endParaRPr lang="en-US" sz="1300" dirty="0"/>
          </a:p>
        </p:txBody>
      </p:sp>
      <p:sp>
        <p:nvSpPr>
          <p:cNvPr id="9" name="Shape 7"/>
          <p:cNvSpPr/>
          <p:nvPr/>
        </p:nvSpPr>
        <p:spPr>
          <a:xfrm>
            <a:off x="457200" y="3337560"/>
            <a:ext cx="3977640" cy="1508760"/>
          </a:xfrm>
          <a:prstGeom prst="roundRect">
            <a:avLst>
              <a:gd name="adj" fmla="val 7273"/>
            </a:avLst>
          </a:prstGeom>
          <a:solidFill>
            <a:srgbClr val="FFFFFF"/>
          </a:solidFill>
          <a:ln/>
          <a:effectLst>
            <a:outerShdw sx="100000" sy="100000" kx="0" ky="0" algn="bl" rotWithShape="0" blurRad="101600" dist="38100" dir="2700000">
              <a:srgbClr val="000000">
                <a:alpha val="18000"/>
              </a:srgbClr>
            </a:outerShdw>
          </a:effectLst>
        </p:spPr>
      </p:sp>
      <p:sp>
        <p:nvSpPr>
          <p:cNvPr id="10" name="Text 8"/>
          <p:cNvSpPr/>
          <p:nvPr/>
        </p:nvSpPr>
        <p:spPr>
          <a:xfrm>
            <a:off x="594360" y="3401568"/>
            <a:ext cx="3703320" cy="1371600"/>
          </a:xfrm>
          <a:prstGeom prst="rect">
            <a:avLst/>
          </a:prstGeom>
          <a:noFill/>
          <a:ln/>
        </p:spPr>
        <p:txBody>
          <a:bodyPr wrap="square" lIns="50800" tIns="50800" rIns="50800" bIns="50800" rtlCol="0" anchor="t"/>
          <a:lstStyle/>
          <a:p>
            <a:pPr algn="l" indent="0" marL="0">
              <a:buNone/>
            </a:pPr>
            <a:r>
              <a:rPr lang="en-US" sz="1050" b="1" dirty="0">
                <a:solidFill>
                  <a:srgbClr val="4A6080"/>
                </a:solidFill>
                <a:latin typeface="Calibri" pitchFamily="34" charset="0"/>
                <a:ea typeface="Calibri" pitchFamily="34" charset="-122"/>
                <a:cs typeface="Calibri" pitchFamily="34" charset="-120"/>
              </a:rPr>
              <a:t>• Keterbatasan Volume Data: </a:t>
            </a:r>
            <a:pPr algn="l" indent="0" marL="0">
              <a:buNone/>
            </a:pPr>
            <a:r>
              <a:rPr lang="en-US" sz="1050" dirty="0">
                <a:solidFill>
                  <a:srgbClr val="4A6080"/>
                </a:solidFill>
                <a:latin typeface="Calibri" pitchFamily="34" charset="0"/>
                <a:ea typeface="Calibri" pitchFamily="34" charset="-122"/>
                <a:cs typeface="Calibri" pitchFamily="34" charset="-120"/>
              </a:rPr>
              <a:t>&lt;350 sampel memicu sensitivitas tinggi → konfigurasi hyperparameter &amp; seed ketat.
</a:t>
            </a:r>
            <a:endParaRPr lang="en-US" sz="1050" dirty="0"/>
          </a:p>
          <a:p>
            <a:pPr algn="l" indent="0" marL="0">
              <a:buNone/>
            </a:pPr>
            <a:r>
              <a:rPr lang="en-US" sz="1050" b="1" dirty="0">
                <a:solidFill>
                  <a:srgbClr val="4A6080"/>
                </a:solidFill>
                <a:latin typeface="Calibri" pitchFamily="34" charset="0"/>
                <a:ea typeface="Calibri" pitchFamily="34" charset="-122"/>
                <a:cs typeface="Calibri" pitchFamily="34" charset="-120"/>
              </a:rPr>
              <a:t>• Struktur Dataset Dinamis: </a:t>
            </a:r>
            <a:pPr algn="l" indent="0" marL="0">
              <a:buNone/>
            </a:pPr>
            <a:r>
              <a:rPr lang="en-US" sz="1050" dirty="0">
                <a:solidFill>
                  <a:srgbClr val="4A6080"/>
                </a:solidFill>
                <a:latin typeface="Calibri" pitchFamily="34" charset="0"/>
                <a:ea typeface="Calibri" pitchFamily="34" charset="-122"/>
                <a:cs typeface="Calibri" pitchFamily="34" charset="-120"/>
              </a:rPr>
              <a:t>Inkonsistensi penamaan direktori Kaggle sempat menghambat pipeline akuisisi data.</a:t>
            </a:r>
            <a:endParaRPr lang="en-US" sz="1050" dirty="0"/>
          </a:p>
        </p:txBody>
      </p:sp>
      <p:sp>
        <p:nvSpPr>
          <p:cNvPr id="11" name="Text 9"/>
          <p:cNvSpPr/>
          <p:nvPr/>
        </p:nvSpPr>
        <p:spPr>
          <a:xfrm>
            <a:off x="4709160" y="2944368"/>
            <a:ext cx="3977640" cy="384048"/>
          </a:xfrm>
          <a:prstGeom prst="rect">
            <a:avLst/>
          </a:prstGeom>
          <a:noFill/>
          <a:ln/>
        </p:spPr>
        <p:txBody>
          <a:bodyPr wrap="square" rtlCol="0" anchor="ctr"/>
          <a:lstStyle/>
          <a:p>
            <a:pPr indent="0" marL="0">
              <a:buNone/>
            </a:pPr>
            <a:r>
              <a:rPr lang="en-US" sz="1300" b="1" dirty="0">
                <a:solidFill>
                  <a:srgbClr val="1A2E4A"/>
                </a:solidFill>
                <a:latin typeface="Cambria" pitchFamily="34" charset="0"/>
                <a:ea typeface="Cambria" pitchFamily="34" charset="-122"/>
                <a:cs typeface="Cambria" pitchFamily="34" charset="-120"/>
              </a:rPr>
              <a:t>💡  Saran Penelitian Lanjutan</a:t>
            </a:r>
            <a:endParaRPr lang="en-US" sz="1300" dirty="0"/>
          </a:p>
        </p:txBody>
      </p:sp>
      <p:sp>
        <p:nvSpPr>
          <p:cNvPr id="12" name="Shape 10"/>
          <p:cNvSpPr/>
          <p:nvPr/>
        </p:nvSpPr>
        <p:spPr>
          <a:xfrm>
            <a:off x="4709160" y="3337560"/>
            <a:ext cx="3977640" cy="1508760"/>
          </a:xfrm>
          <a:prstGeom prst="roundRect">
            <a:avLst>
              <a:gd name="adj" fmla="val 7273"/>
            </a:avLst>
          </a:prstGeom>
          <a:solidFill>
            <a:srgbClr val="FFFFFF"/>
          </a:solidFill>
          <a:ln/>
          <a:effectLst>
            <a:outerShdw sx="100000" sy="100000" kx="0" ky="0" algn="bl" rotWithShape="0" blurRad="101600" dist="38100" dir="2700000">
              <a:srgbClr val="000000">
                <a:alpha val="18000"/>
              </a:srgbClr>
            </a:outerShdw>
          </a:effectLst>
        </p:spPr>
      </p:sp>
      <p:sp>
        <p:nvSpPr>
          <p:cNvPr id="13" name="Text 11"/>
          <p:cNvSpPr/>
          <p:nvPr/>
        </p:nvSpPr>
        <p:spPr>
          <a:xfrm>
            <a:off x="4846320" y="3401568"/>
            <a:ext cx="3703320" cy="1371600"/>
          </a:xfrm>
          <a:prstGeom prst="rect">
            <a:avLst/>
          </a:prstGeom>
          <a:noFill/>
          <a:ln/>
        </p:spPr>
        <p:txBody>
          <a:bodyPr wrap="square" lIns="50800" tIns="50800" rIns="50800" bIns="50800" rtlCol="0" anchor="t"/>
          <a:lstStyle/>
          <a:p>
            <a:pPr algn="l" indent="0" marL="0">
              <a:buNone/>
            </a:pPr>
            <a:r>
              <a:rPr lang="en-US" sz="1050" b="1" dirty="0">
                <a:solidFill>
                  <a:srgbClr val="4A6080"/>
                </a:solidFill>
                <a:latin typeface="Calibri" pitchFamily="34" charset="0"/>
                <a:ea typeface="Calibri" pitchFamily="34" charset="-122"/>
                <a:cs typeface="Calibri" pitchFamily="34" charset="-120"/>
              </a:rPr>
              <a:t>• Data Augmentation </a:t>
            </a:r>
            <a:pPr algn="l" indent="0" marL="0">
              <a:buNone/>
            </a:pPr>
            <a:r>
              <a:rPr lang="en-US" sz="1050" dirty="0">
                <a:solidFill>
                  <a:srgbClr val="4A6080"/>
                </a:solidFill>
                <a:latin typeface="Calibri" pitchFamily="34" charset="0"/>
                <a:ea typeface="Calibri" pitchFamily="34" charset="-122"/>
                <a:cs typeface="Calibri" pitchFamily="34" charset="-120"/>
              </a:rPr>
              <a:t>pada dataset ini tidak direkomendasikan (mendistorsi fitur spasial arkeologi).
</a:t>
            </a:r>
            <a:endParaRPr lang="en-US" sz="1050" dirty="0"/>
          </a:p>
          <a:p>
            <a:pPr algn="l" indent="0" marL="0">
              <a:buNone/>
            </a:pPr>
            <a:r>
              <a:rPr lang="en-US" sz="1050" b="1" dirty="0">
                <a:solidFill>
                  <a:srgbClr val="4A6080"/>
                </a:solidFill>
                <a:latin typeface="Calibri" pitchFamily="34" charset="0"/>
                <a:ea typeface="Calibri" pitchFamily="34" charset="-122"/>
                <a:cs typeface="Calibri" pitchFamily="34" charset="-120"/>
              </a:rPr>
              <a:t>• Transfer Learning </a:t>
            </a:r>
            <a:pPr algn="l" indent="0" marL="0">
              <a:buNone/>
            </a:pPr>
            <a:r>
              <a:rPr lang="en-US" sz="1050" dirty="0">
                <a:solidFill>
                  <a:srgbClr val="4A6080"/>
                </a:solidFill>
                <a:latin typeface="Calibri" pitchFamily="34" charset="0"/>
                <a:ea typeface="Calibri" pitchFamily="34" charset="-122"/>
                <a:cs typeface="Calibri" pitchFamily="34" charset="-120"/>
              </a:rPr>
              <a:t>dari pre-trained models (MobileNet / VGG16) sangat direkomendasikan untuk meningkatkan akurasi dengan modal data minimal.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C9A84C">
              <a:alpha val="12000"/>
            </a:srgbClr>
          </a:solidFill>
          <a:ln w="12700">
            <a:solidFill>
              <a:srgbClr val="C9A84C">
                <a:alpha val="30000"/>
              </a:srgbClr>
            </a:solidFill>
            <a:prstDash val="solid"/>
          </a:ln>
        </p:spPr>
      </p:sp>
      <p:sp>
        <p:nvSpPr>
          <p:cNvPr id="3" name="Shape 1"/>
          <p:cNvSpPr/>
          <p:nvPr/>
        </p:nvSpPr>
        <p:spPr>
          <a:xfrm>
            <a:off x="6858000" y="2286000"/>
            <a:ext cx="3657600" cy="3657600"/>
          </a:xfrm>
          <a:prstGeom prst="ellipse">
            <a:avLst/>
          </a:prstGeom>
          <a:solidFill>
            <a:srgbClr val="C9A84C">
              <a:alpha val="15000"/>
            </a:srgbClr>
          </a:solidFill>
          <a:ln w="12700">
            <a:solidFill>
              <a:srgbClr val="C9A84C">
                <a:alpha val="35000"/>
              </a:srgbClr>
            </a:solidFill>
            <a:prstDash val="solid"/>
          </a:ln>
        </p:spPr>
      </p:sp>
      <p:sp>
        <p:nvSpPr>
          <p:cNvPr id="4" name="Text 2"/>
          <p:cNvSpPr/>
          <p:nvPr/>
        </p:nvSpPr>
        <p:spPr>
          <a:xfrm>
            <a:off x="457200" y="1188720"/>
            <a:ext cx="8229600" cy="1097280"/>
          </a:xfrm>
          <a:prstGeom prst="rect">
            <a:avLst/>
          </a:prstGeom>
          <a:noFill/>
          <a:ln/>
        </p:spPr>
        <p:txBody>
          <a:bodyPr wrap="square" rtlCol="0" anchor="ctr"/>
          <a:lstStyle/>
          <a:p>
            <a:pPr algn="ctr" indent="0" marL="0">
              <a:buNone/>
            </a:pPr>
            <a:r>
              <a:rPr lang="en-US" sz="4800" b="1" dirty="0">
                <a:solidFill>
                  <a:srgbClr val="C9A84C"/>
                </a:solidFill>
                <a:latin typeface="Cambria" pitchFamily="34" charset="0"/>
                <a:ea typeface="Cambria" pitchFamily="34" charset="-122"/>
                <a:cs typeface="Cambria" pitchFamily="34" charset="-120"/>
              </a:rPr>
              <a:t>Terima Kasih</a:t>
            </a:r>
            <a:endParaRPr lang="en-US" sz="4800" dirty="0"/>
          </a:p>
        </p:txBody>
      </p:sp>
      <p:sp>
        <p:nvSpPr>
          <p:cNvPr id="5" name="Text 3"/>
          <p:cNvSpPr/>
          <p:nvPr/>
        </p:nvSpPr>
        <p:spPr>
          <a:xfrm>
            <a:off x="457200" y="2331720"/>
            <a:ext cx="8229600" cy="777240"/>
          </a:xfrm>
          <a:prstGeom prst="rect">
            <a:avLst/>
          </a:prstGeom>
          <a:noFill/>
          <a:ln/>
        </p:spPr>
        <p:txBody>
          <a:bodyPr wrap="square"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Klasifikasi Penjarahan Situs Arkeologi Mesir</a:t>
            </a:r>
            <a:endParaRPr lang="en-US" sz="1600" dirty="0"/>
          </a:p>
          <a:p>
            <a:pPr algn="ctr" indent="0" marL="0">
              <a:buNone/>
            </a:pPr>
            <a:r>
              <a:rPr lang="en-US" sz="1600" i="1" dirty="0">
                <a:solidFill>
                  <a:srgbClr val="FFFFFF"/>
                </a:solidFill>
                <a:latin typeface="Calibri" pitchFamily="34" charset="0"/>
                <a:ea typeface="Calibri" pitchFamily="34" charset="-122"/>
                <a:cs typeface="Calibri" pitchFamily="34" charset="-120"/>
              </a:rPr>
              <a:t>Menggunakan SVM &amp; CNN</a:t>
            </a:r>
            <a:endParaRPr lang="en-US" sz="1600" dirty="0"/>
          </a:p>
        </p:txBody>
      </p:sp>
      <p:sp>
        <p:nvSpPr>
          <p:cNvPr id="6" name="Shape 4"/>
          <p:cNvSpPr/>
          <p:nvPr/>
        </p:nvSpPr>
        <p:spPr>
          <a:xfrm>
            <a:off x="1828800" y="3246120"/>
            <a:ext cx="5486400" cy="1417320"/>
          </a:xfrm>
          <a:prstGeom prst="roundRect">
            <a:avLst>
              <a:gd name="adj" fmla="val 9032"/>
            </a:avLst>
          </a:prstGeom>
          <a:solidFill>
            <a:srgbClr val="1E3A5F"/>
          </a:solidFill>
          <a:ln/>
          <a:effectLst>
            <a:outerShdw sx="100000" sy="100000" kx="0" ky="0" algn="bl" rotWithShape="0" blurRad="101600" dist="38100" dir="2700000">
              <a:srgbClr val="000000">
                <a:alpha val="18000"/>
              </a:srgbClr>
            </a:outerShdw>
          </a:effectLst>
        </p:spPr>
      </p:sp>
      <p:sp>
        <p:nvSpPr>
          <p:cNvPr id="7" name="Text 5"/>
          <p:cNvSpPr/>
          <p:nvPr/>
        </p:nvSpPr>
        <p:spPr>
          <a:xfrm>
            <a:off x="1828800" y="3291840"/>
            <a:ext cx="5486400" cy="1325880"/>
          </a:xfrm>
          <a:prstGeom prst="rect">
            <a:avLst/>
          </a:prstGeom>
          <a:noFill/>
          <a:ln/>
        </p:spPr>
        <p:txBody>
          <a:bodyPr wrap="square" lIns="101600" tIns="101600" rIns="101600" bIns="10160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Kelompok 1 — Kelas 2024E
</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Wahyu Prasetyono  ·  Danis Setyansah  ·  Davan Juheins Tololiu
</a:t>
            </a:r>
            <a:endParaRPr lang="en-US" sz="1100" dirty="0"/>
          </a:p>
          <a:p>
            <a:pPr algn="ctr" indent="0" marL="0">
              <a:buNone/>
            </a:pPr>
            <a:r>
              <a:rPr lang="en-US" sz="1100" dirty="0">
                <a:solidFill>
                  <a:srgbClr val="8AA3BE"/>
                </a:solidFill>
                <a:latin typeface="Calibri" pitchFamily="34" charset="0"/>
                <a:ea typeface="Calibri" pitchFamily="34" charset="-122"/>
                <a:cs typeface="Calibri" pitchFamily="34" charset="-120"/>
              </a:rPr>
              <a:t>Dosen: Riskyana Dewi Intan Puspitasari, S.SI.,M.Kom.  |  Sains Data, Unesa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Klasifikasi Penjarahan Situs Arkeologi Mesir</dc:title>
  <dc:subject>PptxGenJS Presentation</dc:subject>
  <dc:creator>PptxGenJS</dc:creator>
  <cp:lastModifiedBy>PptxGenJS</cp:lastModifiedBy>
  <cp:revision>1</cp:revision>
  <dcterms:created xsi:type="dcterms:W3CDTF">2026-06-08T23:09:40Z</dcterms:created>
  <dcterms:modified xsi:type="dcterms:W3CDTF">2026-06-08T23:09:41Z</dcterms:modified>
</cp:coreProperties>
</file>